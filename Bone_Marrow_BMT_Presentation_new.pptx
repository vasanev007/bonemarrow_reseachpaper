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1280160"/>
            <a:ext cx="1737360" cy="6400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4A3E36"/>
                </a:solidFill>
                <a:latin typeface="Segoe UI"/>
              </a:rPr>
              <a:t>MACHINE LEARNING  /  CLINICAL RESEARCH  /  SMALL-DATA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2A231F"/>
                </a:solidFill>
                <a:latin typeface="Segoe UI"/>
              </a:rPr>
              <a:t>Cascade-Based Input-Doubling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B23A2E"/>
                </a:solidFill>
                <a:latin typeface="Segoe UI"/>
              </a:rPr>
              <a:t>Classifier &amp; Linear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463B34"/>
                </a:solidFill>
                <a:latin typeface="Segoe UI"/>
              </a:rPr>
              <a:t>Predicting survival in pediatric allogeneic bone marrow transplantation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E524A"/>
                </a:solidFill>
                <a:latin typeface="Segoe UI"/>
              </a:rPr>
              <a:t>A reproducible, leak-free pipeline benchmarked against an OLS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FFF4E9">
              <a:alpha val="28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5166360"/>
            <a:ext cx="7242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1">
                <a:solidFill>
                  <a:srgbClr val="B23A2E"/>
                </a:solidFill>
                <a:latin typeface="Segoe UI"/>
              </a:rPr>
              <a:t>Reference:  </a:t>
            </a:r>
            <a:r>
              <a:rPr sz="1250" b="0">
                <a:solidFill>
                  <a:srgbClr val="463B34"/>
                </a:solidFill>
                <a:latin typeface="Segoe UI"/>
              </a:rPr>
              <a:t>Izonin, Tkachenko, Hovdysh, Berezsky, Yemets &amp; Tsmots (2025). </a:t>
            </a:r>
            <a:r>
              <a:rPr sz="1250" b="1">
                <a:solidFill>
                  <a:srgbClr val="2A231F"/>
                </a:solidFill>
                <a:latin typeface="Segoe UI"/>
              </a:rPr>
              <a:t>Computation</a:t>
            </a:r>
            <a:r>
              <a:rPr sz="1250" b="0">
                <a:solidFill>
                  <a:srgbClr val="463B34"/>
                </a:solidFill>
                <a:latin typeface="Segoe UI"/>
              </a:rPr>
              <a:t> 13(3):80, MDPI Open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005840"/>
            <a:ext cx="4846320" cy="5029200"/>
          </a:xfrm>
          <a:prstGeom prst="roundRect">
            <a:avLst>
              <a:gd name="adj" fmla="val 5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" y="1737360"/>
            <a:ext cx="1600200" cy="1600200"/>
          </a:xfrm>
          <a:prstGeom prst="ellipse">
            <a:avLst/>
          </a:prstGeom>
          <a:solidFill>
            <a:srgbClr val="262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" y="1737360"/>
            <a:ext cx="160020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9C9B8"/>
                </a:solidFill>
                <a:latin typeface="Segoe UI"/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8376" y="1847088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A231F"/>
                </a:solidFill>
                <a:latin typeface="Segoe UI"/>
              </a:rPr>
              <a:t>Total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A231F"/>
                </a:solidFill>
                <a:latin typeface="Segoe UI"/>
              </a:rPr>
              <a:t>Patients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4A3E36"/>
                </a:solidFill>
                <a:latin typeface="Segoe UI"/>
              </a:rPr>
              <a:t>UCI DATASET ID: 565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2416" y="3703320"/>
            <a:ext cx="4224528" cy="18288"/>
          </a:xfrm>
          <a:prstGeom prst="rect">
            <a:avLst/>
          </a:prstGeom>
          <a:solidFill>
            <a:srgbClr val="D9B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977640"/>
            <a:ext cx="42245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2A231F"/>
                </a:solidFill>
                <a:latin typeface="Segoe UI"/>
              </a:rPr>
              <a:t>Source:  </a:t>
            </a:r>
            <a:r>
              <a:rPr sz="1500" b="0">
                <a:solidFill>
                  <a:srgbClr val="463B34"/>
                </a:solidFill>
                <a:latin typeface="Segoe UI"/>
              </a:rPr>
              <a:t>UCI Machine Learning Repository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450" b="0" i="0">
                <a:solidFill>
                  <a:srgbClr val="5E524A"/>
                </a:solidFill>
                <a:latin typeface="Segoe UI"/>
              </a:rPr>
              <a:t>Pediatric bone marrow transplant data used for survival rule induction and outcome prediction.</a:t>
            </a:r>
          </a:p>
          <a:p>
            <a:pPr algn="l">
              <a:spcBef>
                <a:spcPts val="1200"/>
              </a:spcBef>
              <a:spcAft>
                <a:spcPts val="500"/>
              </a:spcAft>
            </a:pPr>
            <a:r>
              <a:rPr sz="1400" b="1">
                <a:solidFill>
                  <a:srgbClr val="14635F"/>
                </a:solidFill>
                <a:latin typeface="Segoe UI"/>
              </a:rPr>
              <a:t>35 de-leaked baseline attributes  </a:t>
            </a:r>
            <a:r>
              <a:rPr sz="1400" b="0">
                <a:solidFill>
                  <a:srgbClr val="5E524A"/>
                </a:solidFill>
                <a:latin typeface="Segoe UI"/>
              </a:rPr>
              <a:t>available at transplant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4A3E36"/>
                </a:solidFill>
                <a:latin typeface="Segoe UI"/>
              </a:rPr>
              <a:t>RESEARCH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Small data, big stakes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50" b="1">
                <a:solidFill>
                  <a:srgbClr val="2A231F"/>
                </a:solidFill>
                <a:latin typeface="Segoe UI"/>
              </a:rPr>
              <a:t>Two targets, two questions.  </a:t>
            </a:r>
            <a:r>
              <a:rPr sz="1450" b="0">
                <a:solidFill>
                  <a:srgbClr val="5E524A"/>
                </a:solidFill>
                <a:latin typeface="Segoe UI"/>
              </a:rPr>
              <a:t>One model estimates survival_time (days); the other classifies survival_status (0 = survived, 1 = deceased).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50" b="1">
                <a:solidFill>
                  <a:srgbClr val="2A231F"/>
                </a:solidFill>
                <a:latin typeface="Segoe UI"/>
              </a:rPr>
              <a:t>Imbalance.  </a:t>
            </a:r>
            <a:r>
              <a:rPr sz="1450" b="0">
                <a:solidFill>
                  <a:srgbClr val="5E524A"/>
                </a:solidFill>
                <a:latin typeface="Segoe UI"/>
              </a:rPr>
              <a:t>Deceased outcomes are the minority class, so naive accuracy is misleading.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50" b="1">
                <a:solidFill>
                  <a:srgbClr val="2A231F"/>
                </a:solidFill>
                <a:latin typeface="Segoe UI"/>
              </a:rPr>
              <a:t>Generalization gap.  </a:t>
            </a:r>
            <a:r>
              <a:rPr sz="1450" b="0">
                <a:solidFill>
                  <a:srgbClr val="5E524A"/>
                </a:solidFill>
                <a:latin typeface="Segoe UI"/>
              </a:rPr>
              <a:t>Deep networks overfit tiny clinical cohorts; the cascade is designed specifically for this regime.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005840"/>
            <a:ext cx="4846320" cy="5029200"/>
          </a:xfrm>
          <a:prstGeom prst="roundRect">
            <a:avLst>
              <a:gd name="adj" fmla="val 5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" y="1737360"/>
            <a:ext cx="1600200" cy="1600200"/>
          </a:xfrm>
          <a:prstGeom prst="ellipse">
            <a:avLst/>
          </a:prstGeom>
          <a:solidFill>
            <a:srgbClr val="262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" y="1737360"/>
            <a:ext cx="160020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9C9B8"/>
                </a:solidFill>
                <a:latin typeface="Segoe UI"/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8376" y="1847088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Development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Cohort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4A3E36"/>
                </a:solidFill>
                <a:latin typeface="Segoe UI"/>
              </a:rPr>
              <a:t>TRAINING SPLIT  -  84%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2416" y="3703320"/>
            <a:ext cx="4224528" cy="18288"/>
          </a:xfrm>
          <a:prstGeom prst="rect">
            <a:avLst/>
          </a:prstGeom>
          <a:solidFill>
            <a:srgbClr val="D9B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977640"/>
            <a:ext cx="42245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2A231F"/>
                </a:solidFill>
                <a:latin typeface="Segoe UI"/>
              </a:rPr>
              <a:t>Source:  </a:t>
            </a:r>
            <a:r>
              <a:rPr sz="1400" b="1">
                <a:solidFill>
                  <a:srgbClr val="14635F"/>
                </a:solidFill>
                <a:latin typeface="Segoe UI"/>
              </a:rPr>
              <a:t>remaining_dataset.csv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400" b="0" i="0">
                <a:solidFill>
                  <a:srgbClr val="5E524A"/>
                </a:solidFill>
                <a:latin typeface="Segoe UI"/>
              </a:rPr>
              <a:t>Used for corruption testing, cleaning, EDA, model training and internal cross-validation.</a:t>
            </a:r>
          </a:p>
          <a:p>
            <a:pPr algn="l">
              <a:spcBef>
                <a:spcPts val="1200"/>
              </a:spcBef>
              <a:spcAft>
                <a:spcPts val="500"/>
              </a:spcAft>
            </a:pPr>
            <a:r>
              <a:rPr sz="1350" b="1">
                <a:solidFill>
                  <a:srgbClr val="14635F"/>
                </a:solidFill>
                <a:latin typeface="Segoe UI"/>
              </a:rPr>
              <a:t>Role:  </a:t>
            </a:r>
            <a:r>
              <a:rPr sz="1350" b="0">
                <a:solidFill>
                  <a:srgbClr val="5E524A"/>
                </a:solidFill>
                <a:latin typeface="Segoe UI"/>
              </a:rPr>
              <a:t>everything the models are allowed to learn from.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4A3E36"/>
                </a:solidFill>
                <a:latin typeface="Segoe UI"/>
              </a:rPr>
              <a:t>DATASET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Development vs. External Test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700" b="1">
                <a:solidFill>
                  <a:srgbClr val="2A231F"/>
                </a:solidFill>
                <a:latin typeface="Segoe UI"/>
              </a:rPr>
              <a:t>157 Patients (84%)</a:t>
            </a:r>
          </a:p>
          <a:p>
            <a:pPr algn="l">
              <a:spcBef>
                <a:spcPts val="500"/>
              </a:spcBef>
              <a:spcAft>
                <a:spcPts val="1600"/>
              </a:spcAft>
            </a:pPr>
            <a:r>
              <a:rPr sz="1450" b="0">
                <a:solidFill>
                  <a:srgbClr val="5E524A"/>
                </a:solidFill>
                <a:latin typeface="Segoe UI"/>
              </a:rPr>
              <a:t>Development dataset used for cleaning, EDA, training and internal validation.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700" b="1">
                <a:solidFill>
                  <a:srgbClr val="2A231F"/>
                </a:solidFill>
                <a:latin typeface="Segoe UI"/>
              </a:rPr>
              <a:t>30 Patients (16%)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50" b="0">
                <a:solidFill>
                  <a:srgbClr val="5E524A"/>
                </a:solidFill>
                <a:latin typeface="Segoe UI"/>
              </a:rPr>
              <a:t>External test dataset kept separate until final evaluation to ensure unbiased testing.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73152" cy="105156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7510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B23A2E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01168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A231F"/>
                </a:solidFill>
                <a:latin typeface="Segoe UI"/>
              </a:rPr>
              <a:t>Problem &amp; context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Small data, class imbalance, clinical stakes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73152" cy="1051560"/>
          </a:xfrm>
          <a:prstGeom prst="rect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7510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5B12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1168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A231F"/>
                </a:solidFill>
                <a:latin typeface="Segoe UI"/>
              </a:rPr>
              <a:t>Research foundation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Algorithm 1 - Cascade Input-Doubling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6324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063240"/>
            <a:ext cx="73152" cy="1051560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0954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A5230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24612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A231F"/>
                </a:solidFill>
                <a:latin typeface="Segoe UI"/>
              </a:rPr>
              <a:t>Pipeline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Corruption, cleaning, leak-free 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06324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063240"/>
            <a:ext cx="73152" cy="1051560"/>
          </a:xfrm>
          <a:prstGeom prst="rect">
            <a:avLst/>
          </a:prstGeom>
          <a:solidFill>
            <a:srgbClr val="14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0954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635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24612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A231F"/>
                </a:solidFill>
                <a:latin typeface="Segoe UI"/>
              </a:rPr>
              <a:t>Linear regression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OLS baseline + 100x bootstrapping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9768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297680"/>
            <a:ext cx="73152" cy="1051560"/>
          </a:xfrm>
          <a:prstGeom prst="rect">
            <a:avLst/>
          </a:prstGeom>
          <a:solidFill>
            <a:srgbClr val="7A2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44398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A2E5A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48056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A231F"/>
                </a:solidFill>
                <a:latin typeface="Segoe UI"/>
              </a:rPr>
              <a:t>Cascade classifier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PNN expansion, doubling, RF meta-voting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29768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297680"/>
            <a:ext cx="73152" cy="105156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44398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B23A2E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48056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A231F"/>
                </a:solidFill>
                <a:latin typeface="Segoe UI"/>
              </a:rPr>
              <a:t>Results &amp; diagnostics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Metrics, confusion matrices, importance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53212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5532120"/>
            <a:ext cx="73152" cy="1051560"/>
          </a:xfrm>
          <a:prstGeom prst="rect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67842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5B12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71500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A231F"/>
                </a:solidFill>
                <a:latin typeface="Segoe UI"/>
              </a:rPr>
              <a:t>Web application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FastAPI inference + dashboard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53212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5532120"/>
            <a:ext cx="73152" cy="1051560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67842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A5230"/>
                </a:solidFill>
                <a:latin typeface="Segoe U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715000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A231F"/>
                </a:solidFill>
                <a:latin typeface="Segoe UI"/>
              </a:rPr>
              <a:t>Findings &amp; limitations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Conclusions, caveats, ethics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01 -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The small-data problem in transplantology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49884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</a:rPr>
              <a:t>Clinical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Datasets are strictly limited - N=157 training patients.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Marked class imbalance: the event of interest is the minority.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Heavy right-censoring and heterogeneous clinical attributes.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High-stakes decisions carry real human cost.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2A231F"/>
                </a:solidFill>
                <a:latin typeface="Segoe UI"/>
              </a:rPr>
              <a:t>Consequence:  </a:t>
            </a:r>
            <a:r>
              <a:rPr sz="1400" b="0">
                <a:solidFill>
                  <a:srgbClr val="5E524A"/>
                </a:solidFill>
                <a:latin typeface="Segoe UI"/>
              </a:rPr>
              <a:t>deep nets and complex non-linear classifiers overfit and fail to generalize.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0256" y="2103120"/>
            <a:ext cx="449884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4635F"/>
                </a:solidFill>
                <a:latin typeface="Segoe UI"/>
              </a:rPr>
              <a:t>Project response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Implement Algorithm 1 end-to-end and test its small-data claims.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Pair it with a transparent OLS + bootstrapping baseline.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Evaluate on a strictly held-out clean test cohort.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Ship a reproducible pipeline and an interactive web app.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2A231F"/>
                </a:solidFill>
                <a:latin typeface="Segoe UI"/>
              </a:rPr>
              <a:t>Thesis:  </a:t>
            </a:r>
            <a:r>
              <a:rPr sz="1400" b="0">
                <a:solidFill>
                  <a:srgbClr val="5E524A"/>
                </a:solidFill>
                <a:latin typeface="Segoe UI"/>
              </a:rPr>
              <a:t>neural probability projection enriches low-dimensional clinical feature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02 - RESEARCH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Algorithm 1: a three-stage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3383280" cy="82296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B23A2E"/>
                </a:solidFill>
                <a:latin typeface="Segoe UI"/>
              </a:rPr>
              <a:t>STAGE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A231F"/>
                </a:solidFill>
                <a:latin typeface="Segoe UI"/>
              </a:rPr>
              <a:t>PNN probability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2834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25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250" b="0">
                <a:solidFill>
                  <a:srgbClr val="5E524A"/>
                </a:solidFill>
                <a:latin typeface="Segoe UI"/>
              </a:rPr>
              <a:t>Euclidean, Chebyshev &amp; Cosine distances to support vectors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25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250" b="0">
                <a:solidFill>
                  <a:srgbClr val="5E524A"/>
                </a:solidFill>
                <a:latin typeface="Segoe UI"/>
              </a:rPr>
              <a:t>Gaussian kernel with smooth factor sigma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25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250" b="0">
                <a:solidFill>
                  <a:srgbClr val="5E524A"/>
                </a:solidFill>
                <a:latin typeface="Segoe UI"/>
              </a:rPr>
              <a:t>Appends probabilities: [x, P_E, P_Cheb, P_Cos]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92024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920240"/>
            <a:ext cx="3383280" cy="82296"/>
          </a:xfrm>
          <a:prstGeom prst="rect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1945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A85B12"/>
                </a:solidFill>
                <a:latin typeface="Segoe UI"/>
              </a:rPr>
              <a:t>STAGE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A231F"/>
                </a:solidFill>
                <a:latin typeface="Segoe UI"/>
              </a:rPr>
              <a:t>Quadratic input-doubling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520440"/>
            <a:ext cx="2834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25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250" b="0">
                <a:solidFill>
                  <a:srgbClr val="5E524A"/>
                </a:solidFill>
                <a:latin typeface="Segoe UI"/>
              </a:rPr>
              <a:t>Concatenate sample pairs (x_i, x_j)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25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250" b="0">
                <a:solidFill>
                  <a:srgbClr val="5E524A"/>
                </a:solidFill>
                <a:latin typeface="Segoe UI"/>
              </a:rPr>
              <a:t>Target becomes the difference z = y_i - y_j in {-1, 0, 1}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25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250" b="0">
                <a:solidFill>
                  <a:srgbClr val="5E524A"/>
                </a:solidFill>
                <a:latin typeface="Segoe UI"/>
              </a:rPr>
              <a:t>Small N becomes thousands of comparisons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92024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4" y="1920240"/>
            <a:ext cx="3383280" cy="82296"/>
          </a:xfrm>
          <a:prstGeom prst="rect">
            <a:avLst/>
          </a:prstGeom>
          <a:solidFill>
            <a:srgbClr val="7A2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1945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7A2E5A"/>
                </a:solidFill>
                <a:latin typeface="Segoe UI"/>
              </a:rPr>
              <a:t>STAGE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A231F"/>
                </a:solidFill>
                <a:latin typeface="Segoe UI"/>
              </a:rPr>
              <a:t>Random Forest meta-classifier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20440"/>
            <a:ext cx="2834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25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250" b="0">
                <a:solidFill>
                  <a:srgbClr val="5E524A"/>
                </a:solidFill>
                <a:latin typeface="Segoe UI"/>
              </a:rPr>
              <a:t>Trained on the doubled feature space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25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250" b="0">
                <a:solidFill>
                  <a:srgbClr val="5E524A"/>
                </a:solidFill>
                <a:latin typeface="Segoe UI"/>
              </a:rPr>
              <a:t>Plurality voting over reference training vectors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25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250" b="0">
                <a:solidFill>
                  <a:srgbClr val="5E524A"/>
                </a:solidFill>
                <a:latin typeface="Segoe UI"/>
              </a:rPr>
              <a:t>Final discrete class from ensemble votes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03 -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892807" cy="1463040"/>
          </a:xfrm>
          <a:prstGeom prst="roundRect">
            <a:avLst>
              <a:gd name="adj" fmla="val 9000"/>
            </a:avLst>
          </a:prstGeom>
          <a:solidFill>
            <a:srgbClr val="FFF4E9">
              <a:alpha val="34000"/>
            </a:srgbClr>
          </a:solidFill>
          <a:ln w="12700">
            <a:solidFill>
              <a:srgbClr val="7A5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1892807" cy="73152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450592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 spc="100">
                <a:solidFill>
                  <a:srgbClr val="7A5230"/>
                </a:solidFill>
                <a:latin typeface="Segoe UI"/>
              </a:rPr>
              <a:t>RAW 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231F"/>
                </a:solidFill>
                <a:latin typeface="Segoe UI"/>
              </a:rPr>
              <a:t>157 train + 30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25603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3B34"/>
                </a:solidFill>
                <a:latin typeface="Segoe UI"/>
              </a:rP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81527" y="2103120"/>
            <a:ext cx="1892807" cy="1463040"/>
          </a:xfrm>
          <a:prstGeom prst="roundRect">
            <a:avLst>
              <a:gd name="adj" fmla="val 9000"/>
            </a:avLst>
          </a:prstGeom>
          <a:solidFill>
            <a:srgbClr val="FFF4E9">
              <a:alpha val="34000"/>
            </a:srgbClr>
          </a:solidFill>
          <a:ln w="1270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81527" y="2103120"/>
            <a:ext cx="1892807" cy="7315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1" y="2450592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 spc="100">
                <a:solidFill>
                  <a:srgbClr val="B23A2E"/>
                </a:solidFill>
                <a:latin typeface="Segoe UI"/>
              </a:rPr>
              <a:t>STEP 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231F"/>
                </a:solidFill>
                <a:latin typeface="Segoe UI"/>
              </a:rPr>
              <a:t>Artificial corruption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6" y="25603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3B34"/>
                </a:solidFill>
                <a:latin typeface="Segoe UI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4" y="2103120"/>
            <a:ext cx="1892807" cy="1463040"/>
          </a:xfrm>
          <a:prstGeom prst="roundRect">
            <a:avLst>
              <a:gd name="adj" fmla="val 9000"/>
            </a:avLst>
          </a:prstGeom>
          <a:solidFill>
            <a:srgbClr val="FFF4E9">
              <a:alpha val="34000"/>
            </a:srgbClr>
          </a:solidFill>
          <a:ln w="1270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0094" y="2103120"/>
            <a:ext cx="1892807" cy="73152"/>
          </a:xfrm>
          <a:prstGeom prst="rect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398" y="2450592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 spc="100">
                <a:solidFill>
                  <a:srgbClr val="A85B12"/>
                </a:solidFill>
                <a:latin typeface="Segoe UI"/>
              </a:rPr>
              <a:t>STEP 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231F"/>
                </a:solidFill>
                <a:latin typeface="Segoe UI"/>
              </a:rPr>
              <a:t>Cleaning &amp;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3" y="25603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3B34"/>
                </a:solidFill>
                <a:latin typeface="Segoe UI"/>
              </a:rP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98661" y="2103120"/>
            <a:ext cx="1892807" cy="1463040"/>
          </a:xfrm>
          <a:prstGeom prst="roundRect">
            <a:avLst>
              <a:gd name="adj" fmla="val 9000"/>
            </a:avLst>
          </a:prstGeom>
          <a:solidFill>
            <a:srgbClr val="FFF4E9">
              <a:alpha val="34000"/>
            </a:srgbClr>
          </a:solidFill>
          <a:ln w="12700">
            <a:solidFill>
              <a:srgbClr val="1463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98661" y="2103120"/>
            <a:ext cx="1892807" cy="73152"/>
          </a:xfrm>
          <a:prstGeom prst="rect">
            <a:avLst/>
          </a:prstGeom>
          <a:solidFill>
            <a:srgbClr val="14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4965" y="2450592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 spc="100">
                <a:solidFill>
                  <a:srgbClr val="14635F"/>
                </a:solidFill>
                <a:latin typeface="Segoe UI"/>
              </a:rPr>
              <a:t>MODELS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231F"/>
                </a:solidFill>
                <a:latin typeface="Segoe UI"/>
              </a:rPr>
              <a:t>OLS + Cascade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0" y="25603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3B34"/>
                </a:solidFill>
                <a:latin typeface="Segoe UI"/>
              </a:rPr>
              <a:t>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57228" y="2103120"/>
            <a:ext cx="1892807" cy="1463040"/>
          </a:xfrm>
          <a:prstGeom prst="roundRect">
            <a:avLst>
              <a:gd name="adj" fmla="val 9000"/>
            </a:avLst>
          </a:prstGeom>
          <a:solidFill>
            <a:srgbClr val="FFF4E9">
              <a:alpha val="34000"/>
            </a:srgbClr>
          </a:solidFill>
          <a:ln w="12700">
            <a:solidFill>
              <a:srgbClr val="7A2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57228" y="2103120"/>
            <a:ext cx="1892807" cy="73152"/>
          </a:xfrm>
          <a:prstGeom prst="rect">
            <a:avLst/>
          </a:prstGeom>
          <a:solidFill>
            <a:srgbClr val="7A2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3532" y="2450592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 spc="100">
                <a:solidFill>
                  <a:srgbClr val="7A2E5A"/>
                </a:solidFill>
                <a:latin typeface="Segoe UI"/>
              </a:rPr>
              <a:t>BENCHMARK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231F"/>
                </a:solidFill>
                <a:latin typeface="Segoe UI"/>
              </a:rPr>
              <a:t>Metrics, plots, exports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10607040" cy="192024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" y="4206240"/>
            <a:ext cx="998524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B23A2E"/>
                </a:solidFill>
                <a:latin typeface="Segoe UI"/>
              </a:rPr>
              <a:t>Engineering principles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A231F"/>
                </a:solidFill>
                <a:latin typeface="Segoe UI"/>
              </a:rPr>
              <a:t>Strict train/test isolation.  </a:t>
            </a:r>
            <a:r>
              <a:rPr sz="1300" b="0">
                <a:solidFill>
                  <a:srgbClr val="5E524A"/>
                </a:solidFill>
                <a:latin typeface="Segoe UI"/>
              </a:rPr>
              <a:t>Imputers, IQR caps, scaler and encoder are fitted on train only, then applied to test - no leakage.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A231F"/>
                </a:solidFill>
                <a:latin typeface="Segoe UI"/>
              </a:rPr>
              <a:t>Reproducibility.  </a:t>
            </a:r>
            <a:r>
              <a:rPr sz="1300" b="0">
                <a:solidFill>
                  <a:srgbClr val="5E524A"/>
                </a:solidFill>
                <a:latin typeface="Segoe UI"/>
              </a:rPr>
              <a:t>Fixed seeds; one master script (pipeline.py) regenerates every CSV, metric and figure.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A231F"/>
                </a:solidFill>
                <a:latin typeface="Segoe UI"/>
              </a:rPr>
              <a:t>Modular source.  </a:t>
            </a:r>
            <a:r>
              <a:rPr sz="1300" b="0">
                <a:solidFill>
                  <a:srgbClr val="5E524A"/>
                </a:solidFill>
                <a:latin typeface="Segoe UI"/>
              </a:rPr>
              <a:t>Corruption, cleaning, regression, cascade, evaluation and visualization live in separate modules under src/.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03 -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Step A - artificial data corruption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77316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</a:rPr>
              <a:t>Injected distortions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Random 10-15% NaN missingness across numerical features.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Synthetic duplicate rows (dirty clinical records).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Non-standard string casing &amp; whitespace in Disease.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Extreme outliers in CD34 dose, weights and ages.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2A231F"/>
                </a:solidFill>
                <a:latin typeface="Segoe UI"/>
              </a:rPr>
              <a:t>Purpose:  </a:t>
            </a:r>
            <a:r>
              <a:rPr sz="1350" b="0">
                <a:solidFill>
                  <a:srgbClr val="5E524A"/>
                </a:solidFill>
                <a:latin typeface="Segoe UI"/>
              </a:rPr>
              <a:t>stress-test the cleaning pipeline under realistic hospital-data degradation.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93776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03136" y="2103120"/>
            <a:ext cx="431596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14635F"/>
                </a:solidFill>
                <a:latin typeface="Segoe UI"/>
              </a:rPr>
              <a:t>Corruption -&gt; cleaning contract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5E524A"/>
                </a:solidFill>
                <a:latin typeface="Segoe UI"/>
              </a:rPr>
              <a:t>Output   </a:t>
            </a:r>
            <a:r>
              <a:rPr sz="1400" b="1">
                <a:solidFill>
                  <a:srgbClr val="2A231F"/>
                </a:solidFill>
                <a:latin typeface="Segoe UI"/>
              </a:rPr>
              <a:t>dirty_dataset.csv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5E524A"/>
                </a:solidFill>
                <a:latin typeface="Segoe UI"/>
              </a:rPr>
              <a:t>Missingness   </a:t>
            </a:r>
            <a:r>
              <a:rPr sz="1400" b="1">
                <a:solidFill>
                  <a:srgbClr val="2A231F"/>
                </a:solidFill>
                <a:latin typeface="Segoe UI"/>
              </a:rPr>
              <a:t>12% of numeric cells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5E524A"/>
                </a:solidFill>
                <a:latin typeface="Segoe UI"/>
              </a:rPr>
              <a:t>Duplicates   </a:t>
            </a:r>
            <a:r>
              <a:rPr sz="1400" b="1">
                <a:solidFill>
                  <a:srgbClr val="2A231F"/>
                </a:solidFill>
                <a:latin typeface="Segoe UI"/>
              </a:rPr>
              <a:t>14 injected rows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5E524A"/>
                </a:solidFill>
                <a:latin typeface="Segoe UI"/>
              </a:rPr>
              <a:t>Outliers   </a:t>
            </a:r>
            <a:r>
              <a:rPr sz="1400" b="1">
                <a:solidFill>
                  <a:srgbClr val="2A231F"/>
                </a:solidFill>
                <a:latin typeface="Segoe UI"/>
              </a:rPr>
              <a:t>8 extreme points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5E524A"/>
                </a:solidFill>
                <a:latin typeface="Segoe UI"/>
              </a:rPr>
              <a:t>String noise   </a:t>
            </a:r>
            <a:r>
              <a:rPr sz="1400" b="1">
                <a:solidFill>
                  <a:srgbClr val="2A231F"/>
                </a:solidFill>
                <a:latin typeface="Segoe UI"/>
              </a:rPr>
              <a:t>casing + whitespace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0">
                <a:solidFill>
                  <a:srgbClr val="5E524A"/>
                </a:solidFill>
                <a:latin typeface="Segoe UI"/>
              </a:rPr>
              <a:t>Seed   </a:t>
            </a:r>
            <a:r>
              <a:rPr sz="1400" b="1">
                <a:solidFill>
                  <a:srgbClr val="2A231F"/>
                </a:solidFill>
                <a:latin typeface="Segoe UI"/>
              </a:rPr>
              <a:t>random_state = 42</a:t>
            </a:r>
          </a:p>
          <a:p>
            <a:pPr algn="l">
              <a:spcBef>
                <a:spcPts val="1600"/>
              </a:spcBef>
              <a:spcAft>
                <a:spcPts val="500"/>
              </a:spcAft>
            </a:pPr>
            <a:r>
              <a:rPr sz="1250" b="1">
                <a:solidFill>
                  <a:srgbClr val="B23A2E"/>
                </a:solidFill>
                <a:latin typeface="Segoe UI"/>
              </a:rPr>
              <a:t>Why corrupt on purpose?  </a:t>
            </a:r>
            <a:r>
              <a:rPr sz="1250" b="0">
                <a:solidFill>
                  <a:srgbClr val="5E524A"/>
                </a:solidFill>
                <a:latin typeface="Segoe UI"/>
              </a:rPr>
              <a:t>It makes cleaning robustness measurable and keeps the experiment reproducible.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03 -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Step B - cleaning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2587752" cy="1737360"/>
          </a:xfrm>
          <a:prstGeom prst="roundRect">
            <a:avLst>
              <a:gd name="adj" fmla="val 8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2587752" cy="7315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231136"/>
            <a:ext cx="21305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120">
                <a:solidFill>
                  <a:srgbClr val="B23A2E"/>
                </a:solidFill>
                <a:latin typeface="Segoe UI"/>
              </a:rPr>
              <a:t>STEP 01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A231F"/>
                </a:solidFill>
                <a:latin typeface="Segoe UI"/>
              </a:rPr>
              <a:t>Deduplicate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524A"/>
                </a:solidFill>
                <a:latin typeface="Segoe UI"/>
              </a:rPr>
              <a:t>Drop exact duplicate rows injected in Step 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920240"/>
            <a:ext cx="2587752" cy="1737360"/>
          </a:xfrm>
          <a:prstGeom prst="roundRect">
            <a:avLst>
              <a:gd name="adj" fmla="val 8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920240"/>
            <a:ext cx="2587752" cy="73152"/>
          </a:xfrm>
          <a:prstGeom prst="rect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231136"/>
            <a:ext cx="21305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120">
                <a:solidFill>
                  <a:srgbClr val="A85B12"/>
                </a:solidFill>
                <a:latin typeface="Segoe UI"/>
              </a:rPr>
              <a:t>STEP 02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A231F"/>
                </a:solidFill>
                <a:latin typeface="Segoe UI"/>
              </a:rPr>
              <a:t>Outlier capping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524A"/>
                </a:solidFill>
                <a:latin typeface="Segoe UI"/>
              </a:rPr>
              <a:t>IQR clipping to [Q1 - 3*IQR, Q3 + 3*IQR].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920240"/>
            <a:ext cx="2587752" cy="1737360"/>
          </a:xfrm>
          <a:prstGeom prst="roundRect">
            <a:avLst>
              <a:gd name="adj" fmla="val 8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920240"/>
            <a:ext cx="2587752" cy="73152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31136"/>
            <a:ext cx="21305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120">
                <a:solidFill>
                  <a:srgbClr val="7A5230"/>
                </a:solidFill>
                <a:latin typeface="Segoe UI"/>
              </a:rPr>
              <a:t>STEP 03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A231F"/>
                </a:solidFill>
                <a:latin typeface="Segoe UI"/>
              </a:rPr>
              <a:t>Imputation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524A"/>
                </a:solidFill>
                <a:latin typeface="Segoe UI"/>
              </a:rPr>
              <a:t>Median (numeric) &amp; mode (categorical).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920240"/>
            <a:ext cx="2587752" cy="1737360"/>
          </a:xfrm>
          <a:prstGeom prst="roundRect">
            <a:avLst>
              <a:gd name="adj" fmla="val 8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70264" y="1920240"/>
            <a:ext cx="2587752" cy="73152"/>
          </a:xfrm>
          <a:prstGeom prst="rect">
            <a:avLst/>
          </a:prstGeom>
          <a:solidFill>
            <a:srgbClr val="14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8" y="2231136"/>
            <a:ext cx="21305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120">
                <a:solidFill>
                  <a:srgbClr val="14635F"/>
                </a:solidFill>
                <a:latin typeface="Segoe UI"/>
              </a:rPr>
              <a:t>STEP 04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A231F"/>
                </a:solidFill>
                <a:latin typeface="Segoe UI"/>
              </a:rPr>
              <a:t>Encode &amp; scale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524A"/>
                </a:solidFill>
                <a:latin typeface="Segoe UI"/>
              </a:rPr>
              <a:t>One-hot categoricals + StandardScaler.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10607040" cy="1874519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251959"/>
            <a:ext cx="9985248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4635F"/>
                </a:solidFill>
                <a:latin typeface="Segoe UI"/>
              </a:rPr>
              <a:t>No-leakage guarantee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A231F"/>
                </a:solidFill>
                <a:latin typeface="Segoe UI"/>
              </a:rPr>
              <a:t>BoneMarrowPreprocessor.fit()  </a:t>
            </a:r>
            <a:r>
              <a:rPr sz="1300" b="0">
                <a:solidFill>
                  <a:srgbClr val="5E524A"/>
                </a:solidFill>
                <a:latin typeface="Segoe UI"/>
              </a:rPr>
              <a:t>is called only on the corrupted training set; </a:t>
            </a:r>
            <a:r>
              <a:rPr sz="1300" b="1">
                <a:solidFill>
                  <a:srgbClr val="2A231F"/>
                </a:solidFill>
                <a:latin typeface="Segoe UI"/>
              </a:rPr>
              <a:t>transform()  </a:t>
            </a:r>
            <a:r>
              <a:rPr sz="1300" b="0">
                <a:solidFill>
                  <a:srgbClr val="5E524A"/>
                </a:solidFill>
                <a:latin typeface="Segoe UI"/>
              </a:rPr>
              <a:t>is then applied independently to train and to the clean 30-patient test cohort. All statistics are frozen from training.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0">
                <a:solidFill>
                  <a:srgbClr val="5E524A"/>
                </a:solidFill>
                <a:latin typeface="Segoe UI"/>
              </a:rPr>
              <a:t>Artifacts:  </a:t>
            </a:r>
            <a:r>
              <a:rPr sz="1250" b="1">
                <a:solidFill>
                  <a:srgbClr val="14635F"/>
                </a:solidFill>
                <a:latin typeface="Segoe UI"/>
              </a:rPr>
              <a:t>cleaned_dataset.csv</a:t>
            </a:r>
            <a:r>
              <a:rPr sz="1250" b="0">
                <a:solidFill>
                  <a:srgbClr val="5E524A"/>
                </a:solidFill>
                <a:latin typeface="Segoe UI"/>
              </a:rPr>
              <a:t>   -   </a:t>
            </a:r>
            <a:r>
              <a:rPr sz="1250" b="1">
                <a:solidFill>
                  <a:srgbClr val="14635F"/>
                </a:solidFill>
                <a:latin typeface="Segoe UI"/>
              </a:rPr>
              <a:t>cleaned_test_dataset.csv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03 -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Exploratory analysis - feature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607040" cy="4114800"/>
          </a:xfrm>
          <a:prstGeom prst="roundRect">
            <a:avLst>
              <a:gd name="adj" fmla="val 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ssing_values_dirty_vs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371" y="1975104"/>
            <a:ext cx="7942217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9264" y="5541264"/>
            <a:ext cx="10314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E524A"/>
                </a:solidFill>
                <a:latin typeface="Segoe UI"/>
              </a:rPr>
              <a:t>Missingness heatmap: dirty (329 NaNs) vs. cleaned (0 NaNs)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03 -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231F"/>
                </a:solidFill>
                <a:latin typeface="Segoe UI"/>
              </a:rPr>
              <a:t>Correlation structure &amp; feature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a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095" y="1975104"/>
            <a:ext cx="442237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9264" y="5541264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E524A"/>
                </a:solidFill>
                <a:latin typeface="Segoe UI"/>
              </a:rPr>
              <a:t>Clinical correlation heatmap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d_scatter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10" y="1975104"/>
            <a:ext cx="4777740" cy="3474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5664" y="5541264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E524A"/>
                </a:solidFill>
                <a:latin typeface="Segoe UI"/>
              </a:rPr>
              <a:t>3D space: donor/recipient age vs. CD34 dose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260">
                <a:solidFill>
                  <a:srgbClr val="14635F"/>
                </a:solidFill>
                <a:latin typeface="Segoe U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2A231F"/>
                </a:solidFill>
                <a:latin typeface="Segoe UI"/>
              </a:rPr>
              <a:t>Linear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794760"/>
            <a:ext cx="2011680" cy="54864"/>
          </a:xfrm>
          <a:prstGeom prst="rect">
            <a:avLst/>
          </a:prstGeom>
          <a:solidFill>
            <a:srgbClr val="14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E524A"/>
                </a:solidFill>
                <a:latin typeface="Segoe UI"/>
              </a:rPr>
              <a:t>Model 1 - an interpretable OLS baseline with bootstrapped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463040"/>
            <a:ext cx="2926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8C49E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04 -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What Ordinary Least Squares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86460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4635F"/>
                </a:solidFill>
                <a:latin typeface="Segoe UI"/>
              </a:rPr>
              <a:t>The baseline model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Fits a linear relationship between clinical features and the outcome.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Continuous prediction of survival_status, thresholded at 0.5 for classes.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Fully transparent: every coefficient is directly interpretable.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Serves as the yardstick against which cascade gains are measured.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2A231F"/>
                </a:solidFill>
                <a:latin typeface="Segoe UI"/>
              </a:rPr>
              <a:t>Why keep it?  </a:t>
            </a:r>
            <a:r>
              <a:rPr sz="1350" b="0">
                <a:solidFill>
                  <a:srgbClr val="5E524A"/>
                </a:solidFill>
                <a:latin typeface="Segoe UI"/>
              </a:rPr>
              <a:t>A stronger model is only convincing relative to a well-understood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484632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94576" y="2103120"/>
            <a:ext cx="422452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B23A2E"/>
                </a:solidFill>
                <a:latin typeface="Segoe UI"/>
              </a:rPr>
              <a:t>Pipeline components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14635F"/>
                </a:solidFill>
                <a:latin typeface="Segoe UI"/>
              </a:rPr>
              <a:t>Fit  -  </a:t>
            </a:r>
            <a:r>
              <a:rPr sz="1300" b="0">
                <a:solidFill>
                  <a:srgbClr val="5E524A"/>
                </a:solidFill>
                <a:latin typeface="Segoe UI"/>
              </a:rPr>
              <a:t>scikit-learn LinearRegression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14635F"/>
                </a:solidFill>
                <a:latin typeface="Segoe UI"/>
              </a:rPr>
              <a:t>Inference  -  </a:t>
            </a:r>
            <a:r>
              <a:rPr sz="1300" b="0">
                <a:solidFill>
                  <a:srgbClr val="5E524A"/>
                </a:solidFill>
                <a:latin typeface="Segoe UI"/>
              </a:rPr>
              <a:t>statsmodels OLS (p-values)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14635F"/>
                </a:solidFill>
                <a:latin typeface="Segoe UI"/>
              </a:rPr>
              <a:t>Uncertainty  -  </a:t>
            </a:r>
            <a:r>
              <a:rPr sz="1300" b="0">
                <a:solidFill>
                  <a:srgbClr val="5E524A"/>
                </a:solidFill>
                <a:latin typeface="Segoe UI"/>
              </a:rPr>
              <a:t>100x bootstrap resampling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14635F"/>
                </a:solidFill>
                <a:latin typeface="Segoe UI"/>
              </a:rPr>
              <a:t>Diagnostics  -  </a:t>
            </a:r>
            <a:r>
              <a:rPr sz="1300" b="0">
                <a:solidFill>
                  <a:srgbClr val="5E524A"/>
                </a:solidFill>
                <a:latin typeface="Segoe UI"/>
              </a:rPr>
              <a:t>residual + error tables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14635F"/>
                </a:solidFill>
                <a:latin typeface="Segoe UI"/>
              </a:rPr>
              <a:t>Metrics  -  </a:t>
            </a:r>
            <a:r>
              <a:rPr sz="1300" b="0">
                <a:solidFill>
                  <a:srgbClr val="5E524A"/>
                </a:solidFill>
                <a:latin typeface="Segoe UI"/>
              </a:rPr>
              <a:t>RMSE, MAE, R^2, F1, MCC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04 -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The linear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607040" cy="2057400"/>
          </a:xfrm>
          <a:prstGeom prst="roundRect">
            <a:avLst>
              <a:gd name="adj" fmla="val 5000"/>
            </a:avLst>
          </a:prstGeom>
          <a:solidFill>
            <a:srgbClr val="FFF4E9">
              <a:alpha val="34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286000"/>
            <a:ext cx="99852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A231F"/>
                </a:solidFill>
                <a:latin typeface="Cambria"/>
              </a:rPr>
              <a:t>y = β₀ + β₁x₁ + β₂x₂ + ... + βₚ xₚ + 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524A"/>
                </a:solidFill>
                <a:latin typeface="Consolas"/>
              </a:rPr>
              <a:t>β₀ = intercept    |    βᵢ = coefficient for feature xᵢ    |    ε = residual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4343400"/>
            <a:ext cx="44988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635F"/>
                </a:solidFill>
                <a:latin typeface="Segoe UI"/>
              </a:rPr>
              <a:t>Objective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524A"/>
                </a:solidFill>
                <a:latin typeface="Segoe UI"/>
              </a:rPr>
              <a:t>Choose coefficients that minimize the sum of squared residuals Σ(yᵢ - ŷᵢ)², i.e. the total squared prediction error.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06908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4343400"/>
            <a:ext cx="44988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B23A2E"/>
                </a:solidFill>
                <a:latin typeface="Segoe UI"/>
              </a:rPr>
              <a:t>In this project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524A"/>
                </a:solidFill>
                <a:latin typeface="Segoe UI"/>
              </a:rPr>
              <a:t>~35 encoded predictors (after one-hot expansion), standardized so that coefficient magnitudes are comparable across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04 -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100x bootstrapping for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68172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4635F"/>
                </a:solidFill>
                <a:latin typeface="Segoe UI"/>
              </a:rPr>
              <a:t>Procedure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Resample the training set with replacement (100 iterations).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Refit OLS on each resample and store every coefficient.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Summarize mean coefficient, standard error and 95% percentile intervals.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Cross-check p-values with the statsmodels OLS 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1696" y="2103120"/>
            <a:ext cx="440740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B23A2E"/>
                </a:solidFill>
                <a:latin typeface="Segoe UI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5E524A"/>
                </a:solidFill>
                <a:latin typeface="Segoe UI"/>
              </a:rPr>
              <a:t>Bootstrapping builds an empirical sampling distribution without assuming normality - important for a small, non-Gaussian clinical cohort.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A231F"/>
                </a:solidFill>
                <a:latin typeface="Consolas"/>
              </a:rPr>
              <a:t>Output:  </a:t>
            </a:r>
            <a:r>
              <a:rPr sz="1300" b="1">
                <a:solidFill>
                  <a:srgbClr val="14635F"/>
                </a:solidFill>
                <a:latin typeface="Consolas"/>
              </a:rPr>
              <a:t>bootstrapped_coefficients.csv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1300" b="1">
                <a:solidFill>
                  <a:srgbClr val="2A231F"/>
                </a:solidFill>
                <a:latin typeface="Segoe UI"/>
              </a:rPr>
              <a:t>Seed:  </a:t>
            </a:r>
            <a:r>
              <a:rPr sz="1300" b="1">
                <a:solidFill>
                  <a:srgbClr val="463B34"/>
                </a:solidFill>
                <a:latin typeface="Segoe UI"/>
              </a:rPr>
              <a:t>random_state =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04 -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Coefficient estimates &amp; 95%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60703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25"/>
                <a:gridCol w="1575302"/>
                <a:gridCol w="1365262"/>
                <a:gridCol w="1785343"/>
                <a:gridCol w="1785343"/>
                <a:gridCol w="136526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Mean coef.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Std. err.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95% CI lower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95% CI upper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p-value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Relapse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+0.1178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0.0311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+0.0591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+0.1617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0.0002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Recipientage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+0.0958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0.0508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-0.0060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+0.2009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0.0285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HLAgrI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+0.1619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0.0937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-0.0377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+0.3375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0.0448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Disease_chronic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+0.1859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0.0854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+0.0200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+0.3408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0.0301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extcGvHD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-0.0835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0.0322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-0.1410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-0.0210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0.0104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survival_time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-0.3205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0.0310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-0.3803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-0.2648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&lt;0.0001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Disease_nonmalignant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+0.0031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0.0112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-0.0178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+0.0219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A231F"/>
                          </a:solidFill>
                          <a:latin typeface="Segoe UI"/>
                        </a:rPr>
                        <a:t>&lt;0.0001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2578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1">
                <a:solidFill>
                  <a:srgbClr val="B23A2E"/>
                </a:solidFill>
                <a:latin typeface="Segoe UI"/>
              </a:rPr>
              <a:t>Read-out:  </a:t>
            </a:r>
            <a:r>
              <a:rPr sz="1250" b="0">
                <a:solidFill>
                  <a:srgbClr val="5E524A"/>
                </a:solidFill>
                <a:latin typeface="Segoe UI"/>
              </a:rPr>
              <a:t>Relapse, recipient age, HLA-group I mismatch, chronic disease and extra-corporeal GvHD carry statistically meaningful coefficients - clinically sensible survivors of a small-data 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04 -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Residual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68172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4635F"/>
                </a:solidFill>
                <a:latin typeface="Segoe UI"/>
              </a:rPr>
              <a:t>What we inspect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Residual = actual - predicted, for every test patient.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Absolute error and squared error tables per sample.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Detect systematic bias, heteroscedasticity and outliers.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Feeds RMSE and MAE - the headline error metrics.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1">
                <a:solidFill>
                  <a:srgbClr val="2A231F"/>
                </a:solidFill>
                <a:latin typeface="Consolas"/>
              </a:rPr>
              <a:t>Output:  </a:t>
            </a:r>
            <a:r>
              <a:rPr sz="1250" b="1">
                <a:solidFill>
                  <a:srgbClr val="14635F"/>
                </a:solidFill>
                <a:latin typeface="Consolas"/>
              </a:rPr>
              <a:t>regression_errors.csv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1696" y="2103120"/>
            <a:ext cx="440740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B23A2E"/>
                </a:solidFill>
                <a:latin typeface="Segoe UI"/>
              </a:rPr>
              <a:t>Error metrics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5E524A"/>
                </a:solidFill>
                <a:latin typeface="Segoe UI"/>
              </a:rPr>
              <a:t>RMSE   </a:t>
            </a:r>
            <a:r>
              <a:rPr sz="1500" b="1">
                <a:solidFill>
                  <a:srgbClr val="2A231F"/>
                </a:solidFill>
                <a:latin typeface="Segoe UI"/>
              </a:rPr>
              <a:t>0.3186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5E524A"/>
                </a:solidFill>
                <a:latin typeface="Segoe UI"/>
              </a:rPr>
              <a:t>MAE   </a:t>
            </a:r>
            <a:r>
              <a:rPr sz="1500" b="1">
                <a:solidFill>
                  <a:srgbClr val="2A231F"/>
                </a:solidFill>
                <a:latin typeface="Segoe UI"/>
              </a:rPr>
              <a:t>0.2597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5E524A"/>
                </a:solidFill>
                <a:latin typeface="Segoe UI"/>
              </a:rPr>
              <a:t>MSE   </a:t>
            </a:r>
            <a:r>
              <a:rPr sz="1500" b="1">
                <a:solidFill>
                  <a:srgbClr val="2A231F"/>
                </a:solidFill>
                <a:latin typeface="Segoe UI"/>
              </a:rPr>
              <a:t>0.1015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5E524A"/>
                </a:solidFill>
                <a:latin typeface="Segoe UI"/>
              </a:rPr>
              <a:t>R^2 (survival_time)   </a:t>
            </a:r>
            <a:r>
              <a:rPr sz="1500" b="1">
                <a:solidFill>
                  <a:srgbClr val="2A231F"/>
                </a:solidFill>
                <a:latin typeface="Segoe UI"/>
              </a:rPr>
              <a:t>near zero / negative</a:t>
            </a:r>
          </a:p>
          <a:p>
            <a:pPr algn="l">
              <a:spcBef>
                <a:spcPts val="1400"/>
              </a:spcBef>
              <a:spcAft>
                <a:spcPts val="500"/>
              </a:spcAft>
            </a:pPr>
            <a:r>
              <a:rPr sz="1250" b="1">
                <a:solidFill>
                  <a:srgbClr val="B23A2E"/>
                </a:solidFill>
                <a:latin typeface="Segoe UI"/>
              </a:rPr>
              <a:t>Caveat:  </a:t>
            </a:r>
            <a:r>
              <a:rPr sz="1250" b="0">
                <a:solidFill>
                  <a:srgbClr val="5E524A"/>
                </a:solidFill>
                <a:latin typeface="Segoe UI"/>
              </a:rPr>
              <a:t>day-level survival_time regression is heavily right-censored, so R^2 is unreliable - the binary classification view is more meaningful.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04 -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From regression output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607040" cy="2103120"/>
          </a:xfrm>
          <a:prstGeom prst="roundRect">
            <a:avLst>
              <a:gd name="adj" fmla="val 5000"/>
            </a:avLst>
          </a:prstGeom>
          <a:solidFill>
            <a:srgbClr val="FFF4E9">
              <a:alpha val="34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240280"/>
            <a:ext cx="9985248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2A231F"/>
                </a:solidFill>
                <a:latin typeface="Consolas"/>
              </a:rPr>
              <a:t>predicted class = 1  (deceased)   if   ŷ ≥ 0.5   else   0  (survived)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E524A"/>
                </a:solidFill>
                <a:latin typeface="Segoe UI"/>
              </a:rPr>
              <a:t>The OLS model outputs a continuous risk score; a fixed 0.5 threshold converts it into the binary survival label used for classification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4389120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635F"/>
                </a:solidFill>
                <a:latin typeface="Segoe UI"/>
              </a:rPr>
              <a:t>Recall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A231F"/>
                </a:solidFill>
                <a:latin typeface="Segoe UI"/>
              </a:rPr>
              <a:t>1.00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catches every deceased patient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1148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4389120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23A2E"/>
                </a:solidFill>
                <a:latin typeface="Segoe UI"/>
              </a:rPr>
              <a:t>Precision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A231F"/>
                </a:solidFill>
                <a:latin typeface="Segoe UI"/>
              </a:rPr>
              <a:t>0.833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2 false positives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114800"/>
            <a:ext cx="3474720" cy="173736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4389120"/>
            <a:ext cx="28529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A5230"/>
                </a:solidFill>
                <a:latin typeface="Segoe UI"/>
              </a:rPr>
              <a:t>Accuracy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A231F"/>
                </a:solidFill>
                <a:latin typeface="Segoe UI"/>
              </a:rPr>
              <a:t>0.933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28 of 30 correct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04 -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Regression fit with 95% bootstrap 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607040" cy="4114800"/>
          </a:xfrm>
          <a:prstGeom prst="roundRect">
            <a:avLst>
              <a:gd name="adj" fmla="val 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near_regression_bootstrapped_f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880" y="1975104"/>
            <a:ext cx="57912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9264" y="5541264"/>
            <a:ext cx="10314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E524A"/>
                </a:solidFill>
                <a:latin typeface="Segoe UI"/>
              </a:rPr>
              <a:t>OLS regression line with 95% bootstrapped confidence-interval 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04 -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Baseline performance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587752" cy="2011680"/>
          </a:xfrm>
          <a:prstGeom prst="roundRect">
            <a:avLst>
              <a:gd name="adj" fmla="val 7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2587752" cy="82296"/>
          </a:xfrm>
          <a:prstGeom prst="rect">
            <a:avLst/>
          </a:prstGeom>
          <a:solidFill>
            <a:srgbClr val="14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4560"/>
            <a:ext cx="21305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4635F"/>
                </a:solidFill>
                <a:latin typeface="Segoe UI"/>
              </a:rPr>
              <a:t>0.9333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A231F"/>
                </a:solidFill>
                <a:latin typeface="Segoe UI"/>
              </a:rPr>
              <a:t>Accuracy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28 / 30 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828800"/>
            <a:ext cx="2587752" cy="2011680"/>
          </a:xfrm>
          <a:prstGeom prst="roundRect">
            <a:avLst>
              <a:gd name="adj" fmla="val 7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828800"/>
            <a:ext cx="2587752" cy="82296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194560"/>
            <a:ext cx="21305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7A5230"/>
                </a:solidFill>
                <a:latin typeface="Segoe UI"/>
              </a:rPr>
              <a:t>0.9091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A231F"/>
                </a:solidFill>
                <a:latin typeface="Segoe UI"/>
              </a:rPr>
              <a:t>F1-score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harmonic 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828800"/>
            <a:ext cx="2587752" cy="2011680"/>
          </a:xfrm>
          <a:prstGeom prst="roundRect">
            <a:avLst>
              <a:gd name="adj" fmla="val 7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828800"/>
            <a:ext cx="2587752" cy="82296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194560"/>
            <a:ext cx="21305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B23A2E"/>
                </a:solidFill>
                <a:latin typeface="Segoe UI"/>
              </a:rPr>
              <a:t>0.8660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A231F"/>
                </a:solidFill>
                <a:latin typeface="Segoe UI"/>
              </a:rPr>
              <a:t>MCC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balanced quality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828800"/>
            <a:ext cx="2587752" cy="2011680"/>
          </a:xfrm>
          <a:prstGeom prst="roundRect">
            <a:avLst>
              <a:gd name="adj" fmla="val 7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70264" y="1828800"/>
            <a:ext cx="2587752" cy="82296"/>
          </a:xfrm>
          <a:prstGeom prst="rect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2194560"/>
            <a:ext cx="21305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A85B12"/>
                </a:solidFill>
                <a:latin typeface="Segoe UI"/>
              </a:rPr>
              <a:t>0.2597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A231F"/>
                </a:solidFill>
                <a:latin typeface="Segoe UI"/>
              </a:rPr>
              <a:t>MAE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baseline error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14800"/>
            <a:ext cx="10607040" cy="173736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389120"/>
            <a:ext cx="99852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635F"/>
                </a:solidFill>
                <a:latin typeface="Segoe UI"/>
              </a:rPr>
              <a:t>Takeaway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E524A"/>
                </a:solidFill>
                <a:latin typeface="Segoe UI"/>
              </a:rPr>
              <a:t>The OLS baseline is a strong, sensitive classifier - but it flags some survivors as deceased (2 false positives). The cascade classifier explicitly targets that weakness in the next section.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260">
                <a:solidFill>
                  <a:srgbClr val="7A2E5A"/>
                </a:solidFill>
                <a:latin typeface="Segoe U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2A231F"/>
                </a:solidFill>
                <a:latin typeface="Segoe UI"/>
              </a:rPr>
              <a:t>Cascade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794760"/>
            <a:ext cx="2011680" cy="54864"/>
          </a:xfrm>
          <a:prstGeom prst="rect">
            <a:avLst/>
          </a:prstGeom>
          <a:solidFill>
            <a:srgbClr val="7A2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E524A"/>
                </a:solidFill>
                <a:latin typeface="Segoe UI"/>
              </a:rPr>
              <a:t>Model 2 - PNN expansion, quadratic input-doubling and a Random Forest meta-learner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463040"/>
            <a:ext cx="2926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8C49E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05 - CASCADE / 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PNN probability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577900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7A2E5A"/>
                </a:solidFill>
                <a:latin typeface="Segoe UI"/>
              </a:rPr>
              <a:t>Distance &amp; kernel mechanics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Three distance matrices to the training support set: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B23A2E"/>
                </a:solidFill>
                <a:latin typeface="Segoe UI"/>
              </a:rPr>
              <a:t>     —   </a:t>
            </a:r>
            <a:r>
              <a:rPr sz="1400" b="0">
                <a:solidFill>
                  <a:srgbClr val="5E524A"/>
                </a:solidFill>
                <a:latin typeface="Segoe UI"/>
              </a:rPr>
              <a:t>Euclidean  -  Chebyshev  -  Cosine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Gaussian kernel   K = exp( -d^2 / (2 sigma^2) 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Class-1 posterior = mean(K | class 1) / (mean(K | class 0) + mean(K | class 1)).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Appends [P_E, P_Cheb, P_Cos] to the original vector.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A231F"/>
                </a:solidFill>
                <a:latin typeface="Segoe UI"/>
              </a:rPr>
              <a:t>Effect:  </a:t>
            </a:r>
            <a:r>
              <a:rPr sz="1300" b="0">
                <a:solidFill>
                  <a:srgbClr val="5E524A"/>
                </a:solidFill>
                <a:latin typeface="Segoe UI"/>
              </a:rPr>
              <a:t>a richer, non-linear projection of a low-dimensional clinical space - the core thesis of Izonin et al. (2025).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828800"/>
            <a:ext cx="402336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7536" y="2103120"/>
            <a:ext cx="340156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4635F"/>
                </a:solidFill>
                <a:latin typeface="Segoe UI"/>
              </a:rPr>
              <a:t>Implementation</a:t>
            </a:r>
            <a:r>
              <a:rPr sz="1150" b="1" i="0">
                <a:solidFill>
                  <a:srgbClr val="14635F"/>
                </a:solidFill>
                <a:latin typeface="Consolas"/>
              </a:rPr>
              <a:t>class PNNProbabilityExpander: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463B34"/>
                </a:solidFill>
                <a:latin typeface="Consolas"/>
              </a:rPr>
              <a:t>    def fit(X, y) -&gt; self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463B34"/>
                </a:solidFill>
                <a:latin typeface="Consolas"/>
              </a:rPr>
              <a:t>    def transform(X) -&gt; (N, 3)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463B34"/>
                </a:solidFill>
                <a:latin typeface="Consolas"/>
              </a:rPr>
              <a:t>        [P_euclid,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463B34"/>
                </a:solidFill>
                <a:latin typeface="Consolas"/>
              </a:rPr>
              <a:t>         P_cheb, P_cosine]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463B34"/>
                </a:solidFill>
                <a:latin typeface="Consolas"/>
              </a:rPr>
              <a:t>    def expand_features(X):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463B34"/>
                </a:solidFill>
                <a:latin typeface="Consolas"/>
              </a:rPr>
              <a:t>        hstack([X, probs])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05 - CASCADE /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Quadratic input-doubling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86460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7A2E5A"/>
                </a:solidFill>
                <a:latin typeface="Segoe UI"/>
              </a:rPr>
              <a:t>Augmentation recipe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Pair each sample i with a random subset of samples j.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Concatenate the two expanded vectors: [x_i | x_j].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Target becomes the class difference z = y_i - y_j in {-1, 0, +1}.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Up to 8,000 stratified pairs, capped for tractability.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Turns 157 rows into thousands of informative comparisons.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93776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03136" y="2103120"/>
            <a:ext cx="431596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14635F"/>
                </a:solidFill>
                <a:latin typeface="Segoe UI"/>
              </a:rPr>
              <a:t>Why it mitigates small data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14635F"/>
                </a:solidFill>
                <a:latin typeface="Segoe UI"/>
              </a:rPr>
              <a:t>1.  </a:t>
            </a:r>
            <a:r>
              <a:rPr sz="1350" b="0">
                <a:solidFill>
                  <a:srgbClr val="5E524A"/>
                </a:solidFill>
                <a:latin typeface="Segoe UI"/>
              </a:rPr>
              <a:t>Effective sample-size expansion without fabricating labels - every pair is grounded in two real patients.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14635F"/>
                </a:solidFill>
                <a:latin typeface="Segoe UI"/>
              </a:rPr>
              <a:t>2.  </a:t>
            </a:r>
            <a:r>
              <a:rPr sz="1350" b="0">
                <a:solidFill>
                  <a:srgbClr val="5E524A"/>
                </a:solidFill>
                <a:latin typeface="Segoe UI"/>
              </a:rPr>
              <a:t>Pairwise differences capture ordinal structure and reduce class-imbalance sensitivity.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14635F"/>
                </a:solidFill>
                <a:latin typeface="Segoe UI"/>
              </a:rPr>
              <a:t>3.  </a:t>
            </a:r>
            <a:r>
              <a:rPr sz="1350" b="0">
                <a:solidFill>
                  <a:srgbClr val="5E524A"/>
                </a:solidFill>
                <a:latin typeface="Segoe UI"/>
              </a:rPr>
              <a:t>The doubled space exposes relative clinical signatures to the meta-learner.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14635F"/>
                </a:solidFill>
                <a:latin typeface="Segoe UI"/>
              </a:rPr>
              <a:t>4.  </a:t>
            </a:r>
            <a:r>
              <a:rPr sz="1350" b="0">
                <a:solidFill>
                  <a:srgbClr val="5E524A"/>
                </a:solidFill>
                <a:latin typeface="Segoe UI"/>
              </a:rPr>
              <a:t>Redundant pairs average out idiosyncratic noise - regularization by construction.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05 - CASCADE / 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Random Forest meta-classifier &amp; voting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68172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A85B12"/>
                </a:solidFill>
                <a:latin typeface="Segoe UI"/>
              </a:rPr>
              <a:t>Meta-learner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RandomForestClassifier trained on the doubled feature space.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Learns the difference function z = y_i - y_j.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Gini importances aggregated back to original + PNN features.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n_estimators and max_depth set by global optimization.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1696" y="2103120"/>
            <a:ext cx="440740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14635F"/>
                </a:solidFill>
                <a:latin typeface="Segoe UI"/>
              </a:rPr>
              <a:t>Inference: plurality voting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Pick fixed reference vectors (support set).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Pair each test sample with every reference -&gt; z_hat.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Vote: y_test = y_ref + z_hat, clipped to {0, 1}.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Class-1 probability = fraction of Deceased votes.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14635F"/>
                </a:solidFill>
                <a:latin typeface="Segoe UI"/>
              </a:rPr>
              <a:t>Benefit:  </a:t>
            </a:r>
            <a:r>
              <a:rPr sz="1300" b="0">
                <a:solidFill>
                  <a:srgbClr val="5E524A"/>
                </a:solidFill>
                <a:latin typeface="Segoe UI"/>
              </a:rPr>
              <a:t>an ensemble of many relative judgments instead of one brittle absolute prediction.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05 -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231F"/>
                </a:solidFill>
                <a:latin typeface="Segoe UI"/>
              </a:rPr>
              <a:t>Hyperparameter optimization - Dual Annealing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937760" cy="416052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057400"/>
            <a:ext cx="4315968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7A2E5A"/>
                </a:solidFill>
                <a:latin typeface="Segoe UI"/>
              </a:rPr>
              <a:t>Search setup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scipy.optimize.dual_annealing - global, derivative-free.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Objective: maximize mean_F1 + 0.5 * mean_MCC under 3-fold Stratified CV.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Bounds: sigma [0.2, 3.5], n_estimators [50, 150], max_depth [4, 14].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7A2E5A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15 evaluated trials logged with CV F1 and MCC.</a:t>
            </a:r>
          </a:p>
          <a:p>
            <a:pPr algn="l">
              <a:spcBef>
                <a:spcPts val="1200"/>
              </a:spcBef>
              <a:spcAft>
                <a:spcPts val="5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Optimal configuration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50" b="1">
                <a:solidFill>
                  <a:srgbClr val="2A231F"/>
                </a:solidFill>
                <a:latin typeface="Consolas"/>
              </a:rPr>
              <a:t>sigma = 3.2183  -  n_estimators = 80  -  max_depth = 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2057400"/>
          <a:ext cx="5394956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419"/>
                <a:gridCol w="1061303"/>
                <a:gridCol w="795977"/>
                <a:gridCol w="795977"/>
                <a:gridCol w="884419"/>
                <a:gridCol w="972861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Trial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Sigma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n_est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Depth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CV F1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0E6"/>
                          </a:solidFill>
                          <a:latin typeface="Segoe UI"/>
                        </a:rPr>
                        <a:t>CV MCC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3.2183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0.8120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0.6504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2.2774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0.8071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0.6383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2.1533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0.7812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0.6007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1.2460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0.7674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0.5703</a:t>
                      </a:r>
                    </a:p>
                  </a:txBody>
                  <a:tcPr marL="82296" marR="54864" marT="18288" marB="18288" anchor="ctr">
                    <a:solidFill>
                      <a:srgbClr val="F2D6B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1.4686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0.7652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0.5603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35040" y="502920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Top 5 of 15 Dual Annealing trials. Trial 3 is the global optimum.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06 -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Benchmark on the held-out test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5E524A"/>
                </a:solidFill>
                <a:latin typeface="Segoe UI"/>
              </a:rPr>
              <a:t>Independent clean test set - 30 patients (20 survived, 10 deceased), never seen during training or tuning.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240280"/>
          <a:ext cx="10607039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503"/>
                <a:gridCol w="930442"/>
                <a:gridCol w="930442"/>
                <a:gridCol w="930442"/>
                <a:gridCol w="930442"/>
                <a:gridCol w="930442"/>
                <a:gridCol w="930442"/>
                <a:gridCol w="930442"/>
                <a:gridCol w="93044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Acc.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Prec.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MCC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Kappa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RMSE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MAE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Linear Regression (OLS)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0.9333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0.8333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1.0000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0.9091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0.8660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0.8571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0.3186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0.2597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Hybrid Cascade (Algorithm 1)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0.9333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1.0000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0.8000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0.8889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0.8528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0.8421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0.2165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0.0637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Combined Ensemble Blend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0.9333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1.0000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0.8000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0.8889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0.8528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0.8421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0.2083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0.1408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4297680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297680"/>
            <a:ext cx="82296" cy="160020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53712"/>
            <a:ext cx="2926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23A2E"/>
                </a:solidFill>
                <a:latin typeface="Segoe UI"/>
              </a:rPr>
              <a:t>75.5%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A231F"/>
                </a:solidFill>
                <a:latin typeface="Segoe UI"/>
              </a:rPr>
              <a:t>MAE reduction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524A"/>
                </a:solidFill>
                <a:latin typeface="Segoe UI"/>
              </a:rPr>
              <a:t>0.2597 -&gt; 0.0637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297680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4297680"/>
            <a:ext cx="82296" cy="1600200"/>
          </a:xfrm>
          <a:prstGeom prst="rect">
            <a:avLst/>
          </a:prstGeom>
          <a:solidFill>
            <a:srgbClr val="14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553712"/>
            <a:ext cx="2926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635F"/>
                </a:solidFill>
                <a:latin typeface="Segoe UI"/>
              </a:rPr>
              <a:t>32.1%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A231F"/>
                </a:solidFill>
                <a:latin typeface="Segoe UI"/>
              </a:rPr>
              <a:t>RMSE reduction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524A"/>
                </a:solidFill>
                <a:latin typeface="Segoe UI"/>
              </a:rPr>
              <a:t>0.3186 -&gt; 0.2165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297680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4297680"/>
            <a:ext cx="82296" cy="1600200"/>
          </a:xfrm>
          <a:prstGeom prst="rect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553712"/>
            <a:ext cx="2926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A85B12"/>
                </a:solidFill>
                <a:latin typeface="Segoe UI"/>
              </a:rPr>
              <a:t>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A231F"/>
                </a:solidFill>
                <a:latin typeface="Segoe UI"/>
              </a:rPr>
              <a:t>False positives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524A"/>
                </a:solidFill>
                <a:latin typeface="Segoe UI"/>
              </a:rPr>
              <a:t>precision = 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06 -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Confusion matrices &amp; the OLS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607035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539"/>
                <a:gridCol w="867848"/>
                <a:gridCol w="867848"/>
                <a:gridCol w="867848"/>
                <a:gridCol w="867848"/>
                <a:gridCol w="964276"/>
                <a:gridCol w="964276"/>
                <a:gridCol w="964276"/>
                <a:gridCol w="96427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TP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FP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TN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FN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Sens.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Spec.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PPV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F0E6"/>
                          </a:solidFill>
                          <a:latin typeface="Segoe UI"/>
                        </a:rPr>
                        <a:t>NPV</a:t>
                      </a:r>
                    </a:p>
                  </a:txBody>
                  <a:tcPr marL="82296" marR="54864" marT="18288" marB="18288" anchor="ctr">
                    <a:solidFill>
                      <a:srgbClr val="332A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Linear Regression (OLS)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0.900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0.833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Hybrid Cascade (Algorithm 1)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0.800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0.909</a:t>
                      </a:r>
                    </a:p>
                  </a:txBody>
                  <a:tcPr marL="82296" marR="54864" marT="18288" marB="18288" anchor="ctr">
                    <a:solidFill>
                      <a:srgbClr val="F6C99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Combined Ensemble Blend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0.800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31F"/>
                          </a:solidFill>
                          <a:latin typeface="Segoe UI"/>
                        </a:rPr>
                        <a:t>0.909</a:t>
                      </a:r>
                    </a:p>
                  </a:txBody>
                  <a:tcPr marL="82296" marR="54864" marT="18288" marB="18288" anchor="ctr">
                    <a:solidFill>
                      <a:srgbClr val="FBE9D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3886200"/>
            <a:ext cx="5120640" cy="1965960"/>
          </a:xfrm>
          <a:prstGeom prst="roundRect">
            <a:avLst>
              <a:gd name="adj" fmla="val 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fusion_matrix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20" y="4032504"/>
            <a:ext cx="309372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9264" y="5449824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E524A"/>
                </a:solidFill>
                <a:latin typeface="Segoe UI"/>
              </a:rPr>
              <a:t>OLS (left) vs. Cascade (right)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886200"/>
            <a:ext cx="5120640" cy="196596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4160520"/>
            <a:ext cx="449884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14635F"/>
                </a:solidFill>
                <a:latin typeface="Segoe UI"/>
              </a:rPr>
              <a:t>OLS:  </a:t>
            </a:r>
            <a:r>
              <a:rPr sz="1300" b="0">
                <a:solidFill>
                  <a:srgbClr val="5E524A"/>
                </a:solidFill>
                <a:latin typeface="Segoe UI"/>
              </a:rPr>
              <a:t>sensitive but over-flags - 2 false positives.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B23A2E"/>
                </a:solidFill>
                <a:latin typeface="Segoe UI"/>
              </a:rPr>
              <a:t>Cascade:  </a:t>
            </a:r>
            <a:r>
              <a:rPr sz="1300" b="0">
                <a:solidFill>
                  <a:srgbClr val="5E524A"/>
                </a:solidFill>
                <a:latin typeface="Segoe UI"/>
              </a:rPr>
              <a:t>precision-first - zero false positives, trading 2 missed deceased.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A231F"/>
                </a:solidFill>
                <a:latin typeface="Segoe UI"/>
              </a:rPr>
              <a:t>In transplant triage, </a:t>
            </a:r>
            <a:r>
              <a:rPr sz="1300" b="0">
                <a:solidFill>
                  <a:srgbClr val="5E524A"/>
                </a:solidFill>
                <a:latin typeface="Segoe UI"/>
              </a:rPr>
              <a:t>false alarms drive unnecessary invasive work-ups - the cascade avoids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06 -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231F"/>
                </a:solidFill>
                <a:latin typeface="Segoe UI"/>
              </a:rPr>
              <a:t>Feature importance - the PNN signal dominates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231F"/>
                </a:solidFill>
                <a:latin typeface="Consolas"/>
              </a:rPr>
              <a:t>PNN_Euclid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883664"/>
            <a:ext cx="6492240" cy="237744"/>
          </a:xfrm>
          <a:prstGeom prst="roundRect">
            <a:avLst>
              <a:gd name="adj" fmla="val 30000"/>
            </a:avLst>
          </a:prstGeom>
          <a:solidFill>
            <a:srgbClr val="ED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883664"/>
            <a:ext cx="6420645" cy="237744"/>
          </a:xfrm>
          <a:prstGeom prst="roundRect">
            <a:avLst>
              <a:gd name="adj" fmla="val 3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2448" y="18288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0.3560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231F"/>
                </a:solidFill>
                <a:latin typeface="Consolas"/>
              </a:rPr>
              <a:t>survival_time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340864"/>
            <a:ext cx="6492240" cy="237744"/>
          </a:xfrm>
          <a:prstGeom prst="roundRect">
            <a:avLst>
              <a:gd name="adj" fmla="val 30000"/>
            </a:avLst>
          </a:prstGeom>
          <a:solidFill>
            <a:srgbClr val="ED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0" y="2340864"/>
            <a:ext cx="3572896" cy="237744"/>
          </a:xfrm>
          <a:prstGeom prst="roundRect">
            <a:avLst>
              <a:gd name="adj" fmla="val 30000"/>
            </a:avLst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2448" y="22860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0.1981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231F"/>
                </a:solidFill>
                <a:latin typeface="Consolas"/>
              </a:rPr>
              <a:t>PNN_Cosine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798064"/>
            <a:ext cx="6492240" cy="237744"/>
          </a:xfrm>
          <a:prstGeom prst="roundRect">
            <a:avLst>
              <a:gd name="adj" fmla="val 30000"/>
            </a:avLst>
          </a:prstGeom>
          <a:solidFill>
            <a:srgbClr val="ED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0" y="2798064"/>
            <a:ext cx="2080041" cy="237744"/>
          </a:xfrm>
          <a:prstGeom prst="roundRect">
            <a:avLst>
              <a:gd name="adj" fmla="val 30000"/>
            </a:avLst>
          </a:prstGeom>
          <a:solidFill>
            <a:srgbClr val="7A2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27432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0.1153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004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231F"/>
                </a:solidFill>
                <a:latin typeface="Consolas"/>
              </a:rPr>
              <a:t>PNN_Chebyshev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255264"/>
            <a:ext cx="6492240" cy="237744"/>
          </a:xfrm>
          <a:prstGeom prst="roundRect">
            <a:avLst>
              <a:gd name="adj" fmla="val 30000"/>
            </a:avLst>
          </a:prstGeom>
          <a:solidFill>
            <a:srgbClr val="ED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40480" y="3255264"/>
            <a:ext cx="1431538" cy="237744"/>
          </a:xfrm>
          <a:prstGeom prst="roundRect">
            <a:avLst>
              <a:gd name="adj" fmla="val 30000"/>
            </a:avLst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2448" y="32004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0.0794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576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231F"/>
                </a:solidFill>
                <a:latin typeface="Consolas"/>
              </a:rPr>
              <a:t>CD34kgx10d6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712464"/>
            <a:ext cx="6492240" cy="237744"/>
          </a:xfrm>
          <a:prstGeom prst="roundRect">
            <a:avLst>
              <a:gd name="adj" fmla="val 30000"/>
            </a:avLst>
          </a:prstGeom>
          <a:solidFill>
            <a:srgbClr val="ED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0" y="3712464"/>
            <a:ext cx="386288" cy="237744"/>
          </a:xfrm>
          <a:prstGeom prst="roundRect">
            <a:avLst>
              <a:gd name="adj" fmla="val 30000"/>
            </a:avLst>
          </a:prstGeom>
          <a:solidFill>
            <a:srgbClr val="14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2448" y="36576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0.0214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231F"/>
                </a:solidFill>
                <a:latin typeface="Consolas"/>
              </a:rPr>
              <a:t>CD3dCD34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4169664"/>
            <a:ext cx="6492240" cy="237744"/>
          </a:xfrm>
          <a:prstGeom prst="roundRect">
            <a:avLst>
              <a:gd name="adj" fmla="val 30000"/>
            </a:avLst>
          </a:prstGeom>
          <a:solidFill>
            <a:srgbClr val="ED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40480" y="4169664"/>
            <a:ext cx="344810" cy="237744"/>
          </a:xfrm>
          <a:prstGeom prst="roundRect">
            <a:avLst>
              <a:gd name="adj" fmla="val 3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42448" y="41148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0.0191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720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231F"/>
                </a:solidFill>
                <a:latin typeface="Consolas"/>
              </a:rPr>
              <a:t>Recipientage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4626864"/>
            <a:ext cx="6492240" cy="237744"/>
          </a:xfrm>
          <a:prstGeom prst="roundRect">
            <a:avLst>
              <a:gd name="adj" fmla="val 30000"/>
            </a:avLst>
          </a:prstGeom>
          <a:solidFill>
            <a:srgbClr val="ED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40480" y="4626864"/>
            <a:ext cx="302610" cy="237744"/>
          </a:xfrm>
          <a:prstGeom prst="roundRect">
            <a:avLst>
              <a:gd name="adj" fmla="val 30000"/>
            </a:avLst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8" y="45720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0.0168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0292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231F"/>
                </a:solidFill>
                <a:latin typeface="Consolas"/>
              </a:rPr>
              <a:t>PLTrecovery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0" y="5084064"/>
            <a:ext cx="6492240" cy="237744"/>
          </a:xfrm>
          <a:prstGeom prst="roundRect">
            <a:avLst>
              <a:gd name="adj" fmla="val 30000"/>
            </a:avLst>
          </a:prstGeom>
          <a:solidFill>
            <a:srgbClr val="ED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840480" y="5084064"/>
            <a:ext cx="291609" cy="237744"/>
          </a:xfrm>
          <a:prstGeom prst="roundRect">
            <a:avLst>
              <a:gd name="adj" fmla="val 30000"/>
            </a:avLst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50292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524A"/>
                </a:solidFill>
                <a:latin typeface="Segoe UI"/>
              </a:rPr>
              <a:t>0.0162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71500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1">
                <a:solidFill>
                  <a:srgbClr val="B23A2E"/>
                </a:solidFill>
                <a:latin typeface="Segoe UI"/>
              </a:rPr>
              <a:t>Insight:  </a:t>
            </a:r>
            <a:r>
              <a:rPr sz="1250" b="0">
                <a:solidFill>
                  <a:srgbClr val="5E524A"/>
                </a:solidFill>
                <a:latin typeface="Segoe UI"/>
              </a:rPr>
              <a:t>the PNN projection (Euclid + Cosine + Chebyshev) is the strongest learned signal - empirical support for the paper's feature-enrichment hypothesis.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06 -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ROC-AUC &amp; Precision-Recall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607040" cy="4114800"/>
          </a:xfrm>
          <a:prstGeom prst="roundRect">
            <a:avLst>
              <a:gd name="adj" fmla="val 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c_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975104"/>
            <a:ext cx="86868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9264" y="5541264"/>
            <a:ext cx="10314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E524A"/>
                </a:solidFill>
                <a:latin typeface="Segoe UI"/>
              </a:rPr>
              <a:t>Discrimination curves for the OLS and cascade classifiers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07 - PRODUCTIONIZATION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231F"/>
                </a:solidFill>
                <a:latin typeface="Segoe UI"/>
              </a:rPr>
              <a:t>Interactive clinical ML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68172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4635F"/>
                </a:solidFill>
                <a:latin typeface="Segoe UI"/>
              </a:rPr>
              <a:t>Stack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FastAPI backend with REST + auto Swagger/ReDoc docs.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Singleton model service loading persisted joblib artifacts.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Responsive dark 7-tab dashboard (vanilla JS + Chart.js).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9-case automated unittest suite.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14635F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CSV export center with formula-injection sanitization.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1">
                <a:solidFill>
                  <a:srgbClr val="B23A2E"/>
                </a:solidFill>
                <a:latin typeface="Segoe UI"/>
              </a:rPr>
              <a:t>Two models, kept distinct:  </a:t>
            </a:r>
            <a:r>
              <a:rPr sz="1250" b="0">
                <a:solidFill>
                  <a:srgbClr val="5E524A"/>
                </a:solidFill>
                <a:latin typeface="Segoe UI"/>
              </a:rPr>
              <a:t>Ridge for survival_time; cascade for survival_status.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1696" y="2103120"/>
            <a:ext cx="440740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B23A2E"/>
                </a:solidFill>
                <a:latin typeface="Segoe UI"/>
              </a:rPr>
              <a:t>Product surface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1">
                <a:solidFill>
                  <a:srgbClr val="14635F"/>
                </a:solidFill>
                <a:latin typeface="Segoe UI"/>
              </a:rPr>
              <a:t>Endpoints  -  </a:t>
            </a:r>
            <a:r>
              <a:rPr sz="1250" b="0">
                <a:solidFill>
                  <a:srgbClr val="5E524A"/>
                </a:solidFill>
                <a:latin typeface="Segoe UI"/>
              </a:rPr>
              <a:t>POST /predict, /compare, GET /health, /meta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1">
                <a:solidFill>
                  <a:srgbClr val="14635F"/>
                </a:solidFill>
                <a:latin typeface="Segoe UI"/>
              </a:rPr>
              <a:t>Features  -  </a:t>
            </a:r>
            <a:r>
              <a:rPr sz="1250" b="0">
                <a:solidFill>
                  <a:srgbClr val="5E524A"/>
                </a:solidFill>
                <a:latin typeface="Segoe UI"/>
              </a:rPr>
              <a:t>35 de-leaked baseline attributes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1">
                <a:solidFill>
                  <a:srgbClr val="14635F"/>
                </a:solidFill>
                <a:latin typeface="Segoe UI"/>
              </a:rPr>
              <a:t>Sections  -  </a:t>
            </a:r>
            <a:r>
              <a:rPr sz="1250" b="0">
                <a:solidFill>
                  <a:srgbClr val="5E524A"/>
                </a:solidFill>
                <a:latin typeface="Segoe UI"/>
              </a:rPr>
              <a:t>demographics, disease, HLA, cell dose, serology, regimen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1">
                <a:solidFill>
                  <a:srgbClr val="14635F"/>
                </a:solidFill>
                <a:latin typeface="Segoe UI"/>
              </a:rPr>
              <a:t>Outputs  -  </a:t>
            </a:r>
            <a:r>
              <a:rPr sz="1250" b="0">
                <a:solidFill>
                  <a:srgbClr val="5E524A"/>
                </a:solidFill>
                <a:latin typeface="Segoe UI"/>
              </a:rPr>
              <a:t>class + probability; time + interval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1">
                <a:solidFill>
                  <a:srgbClr val="14635F"/>
                </a:solidFill>
                <a:latin typeface="Segoe UI"/>
              </a:rPr>
              <a:t>Docs  -  </a:t>
            </a:r>
            <a:r>
              <a:rPr sz="1250" b="0">
                <a:solidFill>
                  <a:srgbClr val="5E524A"/>
                </a:solidFill>
                <a:latin typeface="Segoe UI"/>
              </a:rPr>
              <a:t>127.0.0.1:8000/docs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08 -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73152" cy="73152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23A2E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56232"/>
            <a:ext cx="9601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2A231F"/>
                </a:solidFill>
                <a:latin typeface="Segoe UI"/>
              </a:rPr>
              <a:t>Prediction error slashed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Cascade cut MAE by 75.5% (0.2597 -&gt; 0.0637) and RMSE by 32.1% vs. the OLS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33472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33472"/>
            <a:ext cx="73152" cy="731520"/>
          </a:xfrm>
          <a:prstGeom prst="rect">
            <a:avLst/>
          </a:prstGeom>
          <a:solidFill>
            <a:srgbClr val="14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7919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635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06624"/>
            <a:ext cx="9601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2A231F"/>
                </a:solidFill>
                <a:latin typeface="Segoe UI"/>
              </a:rPr>
              <a:t>Zero false positives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Specificity and precision both 1.00 - no healthy patient flagged.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83864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483864"/>
            <a:ext cx="73152" cy="731520"/>
          </a:xfrm>
          <a:prstGeom prst="rect">
            <a:avLst/>
          </a:prstGeom>
          <a:solidFill>
            <a:srgbClr val="7A2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2958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A2E5A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57016"/>
            <a:ext cx="9601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2A231F"/>
                </a:solidFill>
                <a:latin typeface="Segoe UI"/>
              </a:rPr>
              <a:t>PNN expansion is the signal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PNN_Euclid ranks #1 at 35.6% importance, validating the paper's thesis.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34256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34256"/>
            <a:ext cx="73152" cy="731520"/>
          </a:xfrm>
          <a:prstGeom prst="rect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37997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5B12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07408"/>
            <a:ext cx="9601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2A231F"/>
                </a:solidFill>
                <a:latin typeface="Segoe UI"/>
              </a:rPr>
              <a:t>Input doubling beats small 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Pairwise differences turn 157 rows into thousands of grounded comparisons.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84648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184648"/>
            <a:ext cx="73152" cy="731520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303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A5230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57800"/>
            <a:ext cx="9601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2A231F"/>
                </a:solidFill>
                <a:latin typeface="Segoe UI"/>
              </a:rPr>
              <a:t>Reproducible by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524A"/>
                </a:solidFill>
                <a:latin typeface="Segoe UI"/>
              </a:rPr>
              <a:t>Seeded, modular, leak-free pipeline plus notebook and web app.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4A3E36"/>
                </a:solidFill>
                <a:latin typeface="Segoe UI"/>
              </a:rPr>
              <a:t>08 -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31F"/>
                </a:solidFill>
                <a:latin typeface="Segoe UI"/>
              </a:rPr>
              <a:t>Limitations &amp;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68172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A85B12"/>
                </a:solidFill>
                <a:latin typeface="Segoe UI"/>
              </a:rPr>
              <a:t>Statistical caveats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Test cohort is tiny (N=30); single-split metrics carry wide uncertainty.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Reported benchmarks vary across runs/seeds - pipeline export, README and web-app summaries differ.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Precision-first bias trades recall for specificity - model choice follows the clinical objective.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A85B12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survival_time regression is right-censored; R^2 near zero, so day-level prediction is unreliable.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4E9">
              <a:alpha val="30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1696" y="2103120"/>
            <a:ext cx="4407408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B23A2E"/>
                </a:solidFill>
                <a:latin typeface="Segoe UI"/>
              </a:rPr>
              <a:t>Ethical disclaimer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Research and educational demonstration ONLY.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NOT tested in clinical trials, NOT FDA-approved, NOT CE-marked.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Must NEVER guide diagnosis, prognosis or treatment.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23A2E"/>
                </a:solidFill>
                <a:latin typeface="Segoe UI"/>
              </a:rPr>
              <a:t>—   </a:t>
            </a:r>
            <a:r>
              <a:rPr sz="1500" b="0">
                <a:solidFill>
                  <a:srgbClr val="5E524A"/>
                </a:solidFill>
                <a:latin typeface="Segoe UI"/>
              </a:rPr>
              <a:t>No PHI: only de-identified public benchmark data.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2A231F"/>
                </a:solidFill>
                <a:latin typeface="Segoe UI"/>
              </a:rPr>
              <a:t>Bottom line:  </a:t>
            </a:r>
            <a:r>
              <a:rPr sz="1300" b="0">
                <a:solidFill>
                  <a:srgbClr val="5E524A"/>
                </a:solidFill>
                <a:latin typeface="Segoe UI"/>
              </a:rPr>
              <a:t>a rigorous methods showcase - not a medical device.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1463040"/>
            <a:ext cx="1737360" cy="6400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A231F"/>
                </a:solidFill>
                <a:latin typeface="Segoe UI"/>
              </a:rPr>
              <a:t>Thank you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0" i="0">
                <a:solidFill>
                  <a:srgbClr val="B23A2E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10607040" cy="2468880"/>
          </a:xfrm>
          <a:prstGeom prst="roundRect">
            <a:avLst>
              <a:gd name="adj" fmla="val 5000"/>
            </a:avLst>
          </a:prstGeom>
          <a:solidFill>
            <a:srgbClr val="FFF4E9">
              <a:alpha val="32000"/>
            </a:srgbClr>
          </a:solidFill>
          <a:ln w="12700">
            <a:solidFill>
              <a:srgbClr val="F6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3566160"/>
            <a:ext cx="998524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B23A2E"/>
                </a:solidFill>
                <a:latin typeface="Segoe UI"/>
              </a:rPr>
              <a:t>Method:  </a:t>
            </a:r>
            <a:r>
              <a:rPr sz="1300" b="0">
                <a:solidFill>
                  <a:srgbClr val="463B34"/>
                </a:solidFill>
                <a:latin typeface="Segoe UI"/>
              </a:rPr>
              <a:t>Izonin, I., Tkachenko, R., Hovdysh, N., Berezsky, O., Yemets, K. &amp; Tsmots, I. (2025). Cascade-Based Input-Doubling Classifier for Predicting Survival in Allogeneic Bone Marrow Transplants: Small Data Case. </a:t>
            </a:r>
            <a:r>
              <a:rPr sz="1300" b="1">
                <a:solidFill>
                  <a:srgbClr val="2A231F"/>
                </a:solidFill>
                <a:latin typeface="Segoe UI"/>
              </a:rPr>
              <a:t>Computation 13(3):80.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B23A2E"/>
                </a:solidFill>
                <a:latin typeface="Segoe UI"/>
              </a:rPr>
              <a:t>Data:  </a:t>
            </a:r>
            <a:r>
              <a:rPr sz="1300" b="0">
                <a:solidFill>
                  <a:srgbClr val="463B34"/>
                </a:solidFill>
                <a:latin typeface="Segoe UI"/>
              </a:rPr>
              <a:t>Pediatric Bone Marrow Transplantation benchmark dataset (UCI ID 565).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B23A2E"/>
                </a:solidFill>
                <a:latin typeface="Segoe UI"/>
              </a:rPr>
              <a:t>Stack:  </a:t>
            </a:r>
            <a:r>
              <a:rPr sz="1300" b="0">
                <a:solidFill>
                  <a:srgbClr val="463B34"/>
                </a:solidFill>
                <a:latin typeface="Segoe UI"/>
              </a:rPr>
              <a:t>Python, scikit-learn, SciPy, statsmodels, pandas, matplotlib/seaborn, FastAPI, Chart.js.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B23A2E"/>
                </a:solidFill>
                <a:latin typeface="Segoe UI"/>
              </a:rPr>
              <a:t>License:  </a:t>
            </a:r>
            <a:r>
              <a:rPr sz="1300" b="0">
                <a:solidFill>
                  <a:srgbClr val="463B34"/>
                </a:solidFill>
                <a:latin typeface="Segoe UI"/>
              </a:rPr>
              <a:t>MIT License.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463B34"/>
                </a:solidFill>
                <a:latin typeface="Consolas"/>
              </a:rPr>
              <a:t>Repository: bone_marrow_cascade_pipeline   -   run  python pipeline.py  to reproduce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5A3A2A"/>
                </a:solidFill>
                <a:latin typeface="Segoe UI"/>
              </a:rPr>
              <a:t>CASCADE INPUT-DOUBLING PIPELINE   |   IZONIN ET AL. (2025), COMPUTATION 13(3):80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