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0"/>
            <a:ext cx="12191695" cy="32004"/>
          </a:xfrm>
          <a:prstGeom prst="rect">
            <a:avLst/>
          </a:prstGeom>
          <a:solidFill>
            <a:srgbClr val="2B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Segoe UI"/>
              </a:rPr>
              <a:t>MACHINE LEARNING  /  CLINICAL DECISION SUPPORT  /  SMALL-DATA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E7ECF3"/>
                </a:solidFill>
                <a:latin typeface="Segoe UI"/>
              </a:rPr>
              <a:t>Cascade-Based Input-Doubling Classifier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38BDF8"/>
                </a:solidFill>
                <a:latin typeface="Segoe UI"/>
              </a:rPr>
              <a:t>&amp; Linear Regression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0" i="0">
                <a:solidFill>
                  <a:srgbClr val="E7ECF3"/>
                </a:solidFill>
                <a:latin typeface="Segoe UI"/>
              </a:rPr>
              <a:t>Predicting survival in pediatric allogeneic bone marrow transplantation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93A4BD"/>
                </a:solidFill>
                <a:latin typeface="Segoe UI"/>
              </a:rPr>
              <a:t>A small-data, class-imbalanced clinical ML study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526280"/>
            <a:ext cx="6492240" cy="868680"/>
          </a:xfrm>
          <a:prstGeom prst="roundRect">
            <a:avLst>
              <a:gd name="adj" fmla="val 6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4526280"/>
            <a:ext cx="64008" cy="86868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4672584"/>
            <a:ext cx="598932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200" b="1">
                <a:solidFill>
                  <a:srgbClr val="2DD4BF"/>
                </a:solidFill>
                <a:latin typeface="Segoe UI"/>
              </a:rPr>
              <a:t>Reference:  </a:t>
            </a:r>
            <a:r>
              <a:rPr sz="1200" b="0">
                <a:solidFill>
                  <a:srgbClr val="E7ECF3"/>
                </a:solidFill>
                <a:latin typeface="Segoe UI"/>
              </a:rPr>
              <a:t>Izonin, Tkachenko, Hovdysh, Berezsky, Yemets &amp; Tsmots (2025). </a:t>
            </a:r>
            <a:r>
              <a:rPr sz="1200" b="1">
                <a:solidFill>
                  <a:srgbClr val="93A4BD"/>
                </a:solidFill>
                <a:latin typeface="Segoe UI"/>
              </a:rPr>
              <a:t>Computation</a:t>
            </a:r>
            <a:r>
              <a:rPr sz="1200" b="0">
                <a:solidFill>
                  <a:srgbClr val="E7ECF3"/>
                </a:solidFill>
                <a:latin typeface="Segoe UI"/>
              </a:rPr>
              <a:t> 13(3):80, MDPI Open Access.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3A4BD"/>
                </a:solidFill>
                <a:latin typeface="Segoe UI"/>
              </a:rPr>
              <a:t>Reproducible pipeline  -  benchmarked models  -  FastAPI clinical web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Segoe U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7ECF3"/>
                </a:solidFill>
                <a:latin typeface="Segoe UI"/>
              </a:rPr>
              <a:t>What this deck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4BD"/>
                </a:solidFill>
                <a:latin typeface="Segoe UI"/>
              </a:rPr>
              <a:t>Cascade Input-Doubling Pipeline  |  Izonin et al. (2025), Computation 13(3):80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3A4BD"/>
                </a:solidFill>
                <a:latin typeface="Segoe U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349240" cy="1060704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68580" cy="10607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636776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8BDF8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673352"/>
            <a:ext cx="4023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7ECF3"/>
                </a:solidFill>
                <a:latin typeface="Segoe UI"/>
              </a:rPr>
              <a:t>Problem &amp; Motivation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4BD"/>
                </a:solidFill>
                <a:latin typeface="Segoe UI"/>
              </a:rPr>
              <a:t>Small data + class imbalance in transplantology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08760"/>
            <a:ext cx="5349240" cy="1060704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508760"/>
            <a:ext cx="68580" cy="10607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1636776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DD4BF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673352"/>
            <a:ext cx="4023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7ECF3"/>
                </a:solidFill>
                <a:latin typeface="Segoe UI"/>
              </a:rPr>
              <a:t>Research Foundation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4BD"/>
                </a:solidFill>
                <a:latin typeface="Segoe UI"/>
              </a:rPr>
              <a:t>Algorithm 1 - Cascade Input-Doubling (Izonin 2025)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734056"/>
            <a:ext cx="5349240" cy="1060704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734056"/>
            <a:ext cx="68580" cy="106070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2862072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BBF24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898648"/>
            <a:ext cx="4023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7ECF3"/>
                </a:solidFill>
                <a:latin typeface="Segoe UI"/>
              </a:rPr>
              <a:t>Pipeline Architecture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4BD"/>
                </a:solidFill>
                <a:latin typeface="Segoe UI"/>
              </a:rPr>
              <a:t>Corruption -&gt; Cleaning -&gt; Two Models -&gt; Benchmark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734056"/>
            <a:ext cx="5349240" cy="1060704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734056"/>
            <a:ext cx="68580" cy="10607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2862072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8BDF8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898648"/>
            <a:ext cx="4023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7ECF3"/>
                </a:solidFill>
                <a:latin typeface="Segoe UI"/>
              </a:rPr>
              <a:t>Model 1 - OLS Regression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4BD"/>
                </a:solidFill>
                <a:latin typeface="Segoe UI"/>
              </a:rPr>
              <a:t>Bootstrapped least squares baseline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959352"/>
            <a:ext cx="5349240" cy="1060704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959352"/>
            <a:ext cx="68580" cy="10607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4087368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DD4BF"/>
                </a:solidFill>
                <a:latin typeface="Segoe U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123944"/>
            <a:ext cx="4023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7ECF3"/>
                </a:solidFill>
                <a:latin typeface="Segoe UI"/>
              </a:rPr>
              <a:t>Model 2 - Cascade Classifier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4BD"/>
                </a:solidFill>
                <a:latin typeface="Segoe UI"/>
              </a:rPr>
              <a:t>PNN expansion, input doubling, RF meta + voting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3959352"/>
            <a:ext cx="5349240" cy="1060704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3959352"/>
            <a:ext cx="68580" cy="106070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65392" y="4087368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4D399"/>
                </a:solidFill>
                <a:latin typeface="Segoe UI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4123944"/>
            <a:ext cx="4023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7ECF3"/>
                </a:solidFill>
                <a:latin typeface="Segoe UI"/>
              </a:rPr>
              <a:t>Results &amp; Diagnostics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4BD"/>
                </a:solidFill>
                <a:latin typeface="Segoe UI"/>
              </a:rPr>
              <a:t>Metrics, confusion matrices, feature importance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184648"/>
            <a:ext cx="5349240" cy="1060704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5184648"/>
            <a:ext cx="68580" cy="106070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" y="5312664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BBF24"/>
                </a:solidFill>
                <a:latin typeface="Segoe UI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5349240"/>
            <a:ext cx="4023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7ECF3"/>
                </a:solidFill>
                <a:latin typeface="Segoe UI"/>
              </a:rPr>
              <a:t>Production Web App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4BD"/>
                </a:solidFill>
                <a:latin typeface="Segoe UI"/>
              </a:rPr>
              <a:t>FastAPI + interactive dashboard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5184648"/>
            <a:ext cx="5349240" cy="1060704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5184648"/>
            <a:ext cx="68580" cy="106070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5312664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87171"/>
                </a:solidFill>
                <a:latin typeface="Segoe UI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5349240"/>
            <a:ext cx="4023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7ECF3"/>
                </a:solidFill>
                <a:latin typeface="Segoe UI"/>
              </a:rPr>
              <a:t>Findings, Limits &amp; Ethics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4BD"/>
                </a:solidFill>
                <a:latin typeface="Segoe UI"/>
              </a:rPr>
              <a:t>Conclusions and responsible-use notes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Segoe UI"/>
              </a:rPr>
              <a:t>01 -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7ECF3"/>
                </a:solidFill>
                <a:latin typeface="Segoe UI"/>
              </a:rPr>
              <a:t>The small-data problem in transplantology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4BD"/>
                </a:solidFill>
                <a:latin typeface="Segoe UI"/>
              </a:rPr>
              <a:t>Cascade Input-Doubling Pipeline  |  Izonin et al. (2025), Computation 13(3):80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3A4BD"/>
                </a:solidFill>
                <a:latin typeface="Segoe U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480560"/>
          </a:xfrm>
          <a:prstGeom prst="roundRect">
            <a:avLst>
              <a:gd name="adj" fmla="val 6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64008" cy="44805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609344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7171"/>
                </a:solidFill>
                <a:latin typeface="Segoe UI"/>
              </a:rPr>
              <a:t>Clinical constraints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029968"/>
            <a:ext cx="470916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Datasets are strictly limited in size - here N=157 training patients.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Marked class imbalance: survival outcome is the minority event of interest.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Heavy right-censoring and heterogeneous donor/recipient attributes.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High-stakes decisions - a wrong call has real human cost.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 b="1">
                <a:solidFill>
                  <a:srgbClr val="FBBF24"/>
                </a:solidFill>
                <a:latin typeface="Segoe UI"/>
              </a:rPr>
              <a:t>  Consequence: </a:t>
            </a:r>
            <a:r>
              <a:rPr sz="1400" b="0">
                <a:solidFill>
                  <a:srgbClr val="E7ECF3"/>
                </a:solidFill>
                <a:latin typeface="Segoe UI"/>
              </a:rPr>
              <a:t>deep nets and complex non-linear classifiers overfit and fail to generalize.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480560"/>
          </a:xfrm>
          <a:prstGeom prst="roundRect">
            <a:avLst>
              <a:gd name="adj" fmla="val 6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64008" cy="44805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609344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8BDF8"/>
                </a:solidFill>
                <a:latin typeface="Segoe UI"/>
              </a:rPr>
              <a:t>Why this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029968"/>
            <a:ext cx="470916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Implement Algorithm 1 end-to-end and test its small-data claims.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Pair it with a transparent OLS + bootstrapping baseline.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Evaluate on a strictly held-out clean test cohort.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Ship it as a reproducible pipeline + interactive web app.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 b="1">
                <a:solidFill>
                  <a:srgbClr val="2DD4BF"/>
                </a:solidFill>
                <a:latin typeface="Segoe UI"/>
              </a:rPr>
              <a:t>  Thesis: </a:t>
            </a:r>
            <a:r>
              <a:rPr sz="1400" b="0">
                <a:solidFill>
                  <a:srgbClr val="E7ECF3"/>
                </a:solidFill>
                <a:latin typeface="Segoe UI"/>
              </a:rPr>
              <a:t>neural probability projection enriches low-dimensional clinical feature spaces.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Segoe UI"/>
              </a:rPr>
              <a:t>02 - RESEARCH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7ECF3"/>
                </a:solidFill>
                <a:latin typeface="Segoe UI"/>
              </a:rPr>
              <a:t>Algorithm 1: three-stage cascade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4BD"/>
                </a:solidFill>
                <a:latin typeface="Segoe UI"/>
              </a:rPr>
              <a:t>Cascade Input-Doubling Pipeline  |  Izonin et al. (2025), Computation 13(3):80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3A4BD"/>
                </a:solidFill>
                <a:latin typeface="Segoe U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3429000" cy="4160520"/>
          </a:xfrm>
          <a:prstGeom prst="roundRect">
            <a:avLst>
              <a:gd name="adj" fmla="val 5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3429000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56232"/>
            <a:ext cx="2880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</a:rPr>
              <a:t>STAGE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E7ECF3"/>
                </a:solidFill>
                <a:latin typeface="Segoe UI"/>
              </a:rPr>
              <a:t>PNN Probability
Expansion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08960"/>
            <a:ext cx="288036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50">
                <a:solidFill>
                  <a:srgbClr val="38BDF8"/>
                </a:solidFill>
                <a:latin typeface="Segoe UI"/>
              </a:rPr>
              <a:t>•  </a:t>
            </a:r>
            <a:r>
              <a:rPr sz="1250" b="0">
                <a:solidFill>
                  <a:srgbClr val="E7ECF3"/>
                </a:solidFill>
                <a:latin typeface="Segoe UI"/>
              </a:rPr>
              <a:t>Euclidean, Chebyshev &amp; Cosine distances to support vectors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50">
                <a:solidFill>
                  <a:srgbClr val="38BDF8"/>
                </a:solidFill>
                <a:latin typeface="Segoe UI"/>
              </a:rPr>
              <a:t>•  </a:t>
            </a:r>
            <a:r>
              <a:rPr sz="1250" b="0">
                <a:solidFill>
                  <a:srgbClr val="E7ECF3"/>
                </a:solidFill>
                <a:latin typeface="Segoe UI"/>
              </a:rPr>
              <a:t>Gaussian kernel with smooth factor sigma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50">
                <a:solidFill>
                  <a:srgbClr val="38BDF8"/>
                </a:solidFill>
                <a:latin typeface="Segoe UI"/>
              </a:rPr>
              <a:t>•  </a:t>
            </a:r>
            <a:r>
              <a:rPr sz="1250" b="0">
                <a:solidFill>
                  <a:srgbClr val="E7ECF3"/>
                </a:solidFill>
                <a:latin typeface="Segoe UI"/>
              </a:rPr>
              <a:t>Appends probabilities: [x, P_E, P_Cheb, P_Cos]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23944" y="333756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93A4BD"/>
                </a:solidFill>
                <a:latin typeface="Segoe UI"/>
              </a:rPr>
              <a:t>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1600200"/>
            <a:ext cx="3429000" cy="4160520"/>
          </a:xfrm>
          <a:prstGeom prst="roundRect">
            <a:avLst>
              <a:gd name="adj" fmla="val 5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6552" y="1600200"/>
            <a:ext cx="3429000" cy="8229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856232"/>
            <a:ext cx="2880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Segoe UI"/>
              </a:rPr>
              <a:t>STAGE 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E7ECF3"/>
                </a:solidFill>
                <a:latin typeface="Segoe UI"/>
              </a:rPr>
              <a:t>Quadratic
Input-Doubling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3108960"/>
            <a:ext cx="288036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50">
                <a:solidFill>
                  <a:srgbClr val="2DD4BF"/>
                </a:solidFill>
                <a:latin typeface="Segoe UI"/>
              </a:rPr>
              <a:t>•  </a:t>
            </a:r>
            <a:r>
              <a:rPr sz="1250" b="0">
                <a:solidFill>
                  <a:srgbClr val="E7ECF3"/>
                </a:solidFill>
                <a:latin typeface="Segoe UI"/>
              </a:rPr>
              <a:t>Form sample pairs (x_i, x_j) and concatenate them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50">
                <a:solidFill>
                  <a:srgbClr val="2DD4BF"/>
                </a:solidFill>
                <a:latin typeface="Segoe UI"/>
              </a:rPr>
              <a:t>•  </a:t>
            </a:r>
            <a:r>
              <a:rPr sz="1250" b="0">
                <a:solidFill>
                  <a:srgbClr val="E7ECF3"/>
                </a:solidFill>
                <a:latin typeface="Segoe UI"/>
              </a:rPr>
              <a:t>Target becomes the difference z = y_i - y_j in {-1, 0, 1}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50">
                <a:solidFill>
                  <a:srgbClr val="2DD4BF"/>
                </a:solidFill>
                <a:latin typeface="Segoe UI"/>
              </a:rPr>
              <a:t>•  </a:t>
            </a:r>
            <a:r>
              <a:rPr sz="1250" b="0">
                <a:solidFill>
                  <a:srgbClr val="E7ECF3"/>
                </a:solidFill>
                <a:latin typeface="Segoe UI"/>
              </a:rPr>
              <a:t>Small N -&gt; thousands of informative comparisons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8976" y="333756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93A4BD"/>
                </a:solidFill>
                <a:latin typeface="Segoe UI"/>
              </a:rPr>
              <a:t>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4" y="1600200"/>
            <a:ext cx="3429000" cy="4160520"/>
          </a:xfrm>
          <a:prstGeom prst="roundRect">
            <a:avLst>
              <a:gd name="adj" fmla="val 5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4" y="1600200"/>
            <a:ext cx="3429000" cy="8229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75904" y="1856232"/>
            <a:ext cx="2880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BBF24"/>
                </a:solidFill>
                <a:latin typeface="Segoe UI"/>
              </a:rPr>
              <a:t>STAGE 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E7ECF3"/>
                </a:solidFill>
                <a:latin typeface="Segoe UI"/>
              </a:rPr>
              <a:t>Random Forest
Meta-Classifier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3108960"/>
            <a:ext cx="288036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50">
                <a:solidFill>
                  <a:srgbClr val="FBBF24"/>
                </a:solidFill>
                <a:latin typeface="Segoe UI"/>
              </a:rPr>
              <a:t>•  </a:t>
            </a:r>
            <a:r>
              <a:rPr sz="1250" b="0">
                <a:solidFill>
                  <a:srgbClr val="E7ECF3"/>
                </a:solidFill>
                <a:latin typeface="Segoe UI"/>
              </a:rPr>
              <a:t>Trained on the doubled feature space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50">
                <a:solidFill>
                  <a:srgbClr val="FBBF24"/>
                </a:solidFill>
                <a:latin typeface="Segoe UI"/>
              </a:rPr>
              <a:t>•  </a:t>
            </a:r>
            <a:r>
              <a:rPr sz="1250" b="0">
                <a:solidFill>
                  <a:srgbClr val="E7ECF3"/>
                </a:solidFill>
                <a:latin typeface="Segoe UI"/>
              </a:rPr>
              <a:t>Plurality voting over reference training vectors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50">
                <a:solidFill>
                  <a:srgbClr val="FBBF24"/>
                </a:solidFill>
                <a:latin typeface="Segoe UI"/>
              </a:rPr>
              <a:t>•  </a:t>
            </a:r>
            <a:r>
              <a:rPr sz="1250" b="0">
                <a:solidFill>
                  <a:srgbClr val="E7ECF3"/>
                </a:solidFill>
                <a:latin typeface="Segoe UI"/>
              </a:rPr>
              <a:t>Final discrete class from ensemble votes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Segoe UI"/>
              </a:rPr>
              <a:t>03 -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7ECF3"/>
                </a:solidFill>
                <a:latin typeface="Segoe UI"/>
              </a:rPr>
              <a:t>End-to-end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4BD"/>
                </a:solidFill>
                <a:latin typeface="Segoe UI"/>
              </a:rPr>
              <a:t>Cascade Input-Doubling Pipeline  |  Izonin et al. (2025), Computation 13(3):80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3A4BD"/>
                </a:solidFill>
                <a:latin typeface="Segoe U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947672" cy="1371600"/>
          </a:xfrm>
          <a:prstGeom prst="roundRect">
            <a:avLst>
              <a:gd name="adj" fmla="val 9000"/>
            </a:avLst>
          </a:prstGeom>
          <a:solidFill>
            <a:srgbClr val="1B2740"/>
          </a:solidFill>
          <a:ln w="9525">
            <a:solidFill>
              <a:srgbClr val="93A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1947672" cy="64008"/>
          </a:xfrm>
          <a:prstGeom prst="rect">
            <a:avLst/>
          </a:prstGeom>
          <a:solidFill>
            <a:srgbClr val="93A4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112264"/>
            <a:ext cx="16550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93A4BD"/>
                </a:solidFill>
                <a:latin typeface="Segoe UI"/>
              </a:rPr>
              <a:t>RAW DATA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7ECF3"/>
                </a:solidFill>
                <a:latin typeface="Segoe UI"/>
              </a:rPr>
              <a:t>157 train + 30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0904" y="224028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3A4BD"/>
                </a:solidFill>
                <a:latin typeface="Segoe UI"/>
              </a:rPr>
              <a:t>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44952" y="1783080"/>
            <a:ext cx="1947672" cy="1371600"/>
          </a:xfrm>
          <a:prstGeom prst="roundRect">
            <a:avLst>
              <a:gd name="adj" fmla="val 9000"/>
            </a:avLst>
          </a:prstGeom>
          <a:solidFill>
            <a:srgbClr val="1B2740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44952" y="1783080"/>
            <a:ext cx="1947672" cy="6400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91256" y="2112264"/>
            <a:ext cx="16550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F87171"/>
                </a:solidFill>
                <a:latin typeface="Segoe UI"/>
              </a:rPr>
              <a:t>STEP 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7ECF3"/>
                </a:solidFill>
                <a:latin typeface="Segoe UI"/>
              </a:rPr>
              <a:t>Artificial corruption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74336" y="224028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3A4BD"/>
                </a:solidFill>
                <a:latin typeface="Segoe UI"/>
              </a:rPr>
              <a:t>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58384" y="1783080"/>
            <a:ext cx="1947672" cy="1371600"/>
          </a:xfrm>
          <a:prstGeom prst="roundRect">
            <a:avLst>
              <a:gd name="adj" fmla="val 9000"/>
            </a:avLst>
          </a:prstGeom>
          <a:solidFill>
            <a:srgbClr val="1B2740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58384" y="1783080"/>
            <a:ext cx="1947672" cy="6400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04688" y="2112264"/>
            <a:ext cx="16550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FBBF24"/>
                </a:solidFill>
                <a:latin typeface="Segoe UI"/>
              </a:rPr>
              <a:t>STEP 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7ECF3"/>
                </a:solidFill>
                <a:latin typeface="Segoe UI"/>
              </a:rPr>
              <a:t>Cleaning &amp; preprocessing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7768" y="224028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3A4BD"/>
                </a:solidFill>
                <a:latin typeface="Segoe UI"/>
              </a:rPr>
              <a:t>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71816" y="1783080"/>
            <a:ext cx="1947672" cy="1371600"/>
          </a:xfrm>
          <a:prstGeom prst="roundRect">
            <a:avLst>
              <a:gd name="adj" fmla="val 9000"/>
            </a:avLst>
          </a:prstGeom>
          <a:solidFill>
            <a:srgbClr val="1B2740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71816" y="1783080"/>
            <a:ext cx="1947672" cy="6400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2112264"/>
            <a:ext cx="16550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38BDF8"/>
                </a:solidFill>
                <a:latin typeface="Segoe UI"/>
              </a:rPr>
              <a:t>MODELS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7ECF3"/>
                </a:solidFill>
                <a:latin typeface="Segoe UI"/>
              </a:rPr>
              <a:t>OLS  +  Cascade classifier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24028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3A4BD"/>
                </a:solidFill>
                <a:latin typeface="Segoe UI"/>
              </a:rPr>
              <a:t>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85248" y="1783080"/>
            <a:ext cx="1947672" cy="1371600"/>
          </a:xfrm>
          <a:prstGeom prst="roundRect">
            <a:avLst>
              <a:gd name="adj" fmla="val 9000"/>
            </a:avLst>
          </a:prstGeom>
          <a:solidFill>
            <a:srgbClr val="1B2740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985248" y="1783080"/>
            <a:ext cx="1947672" cy="640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31552" y="2112264"/>
            <a:ext cx="16550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34D399"/>
                </a:solidFill>
                <a:latin typeface="Segoe UI"/>
              </a:rPr>
              <a:t>BENCHMARK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7ECF3"/>
                </a:solidFill>
                <a:latin typeface="Segoe UI"/>
              </a:rPr>
              <a:t>Metrics, plots, exports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520440"/>
            <a:ext cx="10725912" cy="2331720"/>
          </a:xfrm>
          <a:prstGeom prst="roundRect">
            <a:avLst>
              <a:gd name="adj" fmla="val 6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3520440"/>
            <a:ext cx="64008" cy="2331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3666744"/>
            <a:ext cx="10314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DD4BF"/>
                </a:solidFill>
                <a:latin typeface="Segoe UI"/>
              </a:rPr>
              <a:t>Engineering principles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4087368"/>
            <a:ext cx="10222992" cy="1618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350" b="1">
                <a:solidFill>
                  <a:srgbClr val="E7ECF3"/>
                </a:solidFill>
                <a:latin typeface="Segoe UI"/>
              </a:rPr>
              <a:t>Strict train/test isolation.  </a:t>
            </a:r>
            <a:r>
              <a:rPr sz="1350" b="0">
                <a:solidFill>
                  <a:srgbClr val="93A4BD"/>
                </a:solidFill>
                <a:latin typeface="Segoe UI"/>
              </a:rPr>
              <a:t>Every preprocessing artifact (imputers, IQR caps, scaler, encoder) is fitted on the training split only and then applied to test - eliminating data leakage.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350" b="1">
                <a:solidFill>
                  <a:srgbClr val="E7ECF3"/>
                </a:solidFill>
                <a:latin typeface="Segoe UI"/>
              </a:rPr>
              <a:t>Reproducibility.  </a:t>
            </a:r>
            <a:r>
              <a:rPr sz="1350" b="0">
                <a:solidFill>
                  <a:srgbClr val="93A4BD"/>
                </a:solidFill>
                <a:latin typeface="Segoe UI"/>
              </a:rPr>
              <a:t>Fixed random seeds and a single master script (</a:t>
            </a:r>
            <a:r>
              <a:rPr sz="1350" b="1">
                <a:solidFill>
                  <a:srgbClr val="38BDF8"/>
                </a:solidFill>
                <a:latin typeface="Segoe UI"/>
              </a:rPr>
              <a:t>pipeline.py</a:t>
            </a:r>
            <a:r>
              <a:rPr sz="1350" b="0">
                <a:solidFill>
                  <a:srgbClr val="93A4BD"/>
                </a:solidFill>
                <a:latin typeface="Segoe UI"/>
              </a:rPr>
              <a:t>) regenerate every CSV, metric and figure.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350" b="1">
                <a:solidFill>
                  <a:srgbClr val="E7ECF3"/>
                </a:solidFill>
                <a:latin typeface="Segoe UI"/>
              </a:rPr>
              <a:t>Modular source.  </a:t>
            </a:r>
            <a:r>
              <a:rPr sz="1350" b="0">
                <a:solidFill>
                  <a:srgbClr val="93A4BD"/>
                </a:solidFill>
                <a:latin typeface="Segoe UI"/>
              </a:rPr>
              <a:t>Corruption, cleaning, regression, cascade classifier, evaluation and visualization live in separate, testable modules under </a:t>
            </a:r>
            <a:r>
              <a:rPr sz="1350" b="1">
                <a:solidFill>
                  <a:srgbClr val="38BDF8"/>
                </a:solidFill>
                <a:latin typeface="Segoe UI"/>
              </a:rPr>
              <a:t>src/</a:t>
            </a:r>
            <a:r>
              <a:rPr sz="1350" b="0">
                <a:solidFill>
                  <a:srgbClr val="93A4BD"/>
                </a:solidFill>
                <a:latin typeface="Segoe UI"/>
              </a:rPr>
              <a:t>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350" b="1">
                <a:solidFill>
                  <a:srgbClr val="E7ECF3"/>
                </a:solidFill>
                <a:latin typeface="Segoe UI"/>
              </a:rPr>
              <a:t>Dual deliverables.  </a:t>
            </a:r>
            <a:r>
              <a:rPr sz="1350" b="0">
                <a:solidFill>
                  <a:srgbClr val="93A4BD"/>
                </a:solidFill>
                <a:latin typeface="Segoe UI"/>
              </a:rPr>
              <a:t>A batch research pipeline </a:t>
            </a:r>
            <a:r>
              <a:rPr sz="1350" b="1">
                <a:solidFill>
                  <a:srgbClr val="E7ECF3"/>
                </a:solidFill>
                <a:latin typeface="Segoe UI"/>
              </a:rPr>
              <a:t>and</a:t>
            </a:r>
            <a:r>
              <a:rPr sz="1350" b="0">
                <a:solidFill>
                  <a:srgbClr val="93A4BD"/>
                </a:solidFill>
                <a:latin typeface="Segoe UI"/>
              </a:rPr>
              <a:t> an executable Jupyter notebook + FastAPI web application.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Segoe UI"/>
              </a:rPr>
              <a:t>03 -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7ECF3"/>
                </a:solidFill>
                <a:latin typeface="Segoe UI"/>
              </a:rPr>
              <a:t>Step A - Artificial data corruption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4BD"/>
                </a:solidFill>
                <a:latin typeface="Segoe UI"/>
              </a:rPr>
              <a:t>Cascade Input-Doubling Pipeline  |  Izonin et al. (2025), Computation 13(3):80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3A4BD"/>
                </a:solidFill>
                <a:latin typeface="Segoe U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486400" cy="4480560"/>
          </a:xfrm>
          <a:prstGeom prst="roundRect">
            <a:avLst>
              <a:gd name="adj" fmla="val 6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64008" cy="44805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609344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7171"/>
                </a:solidFill>
                <a:latin typeface="Segoe UI"/>
              </a:rPr>
              <a:t>Injected distortions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029968"/>
            <a:ext cx="498348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F87171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Random 10-15% NaN missingness across numerical features.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F87171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Synthetic duplicate rows to simulate dirty clinical records.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F87171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Non-standard string casing &amp; whitespace injection in Disease.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F87171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Extreme numerical outliers inserted (CD34 dosage, donor/recipient weights and ages).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350" b="1">
                <a:solidFill>
                  <a:srgbClr val="FBBF24"/>
                </a:solidFill>
                <a:latin typeface="Segoe UI"/>
              </a:rPr>
              <a:t>  Purpose: </a:t>
            </a:r>
            <a:r>
              <a:rPr sz="1350" b="0">
                <a:solidFill>
                  <a:srgbClr val="E7ECF3"/>
                </a:solidFill>
                <a:latin typeface="Segoe UI"/>
              </a:rPr>
              <a:t>stress-test the cleaning pipeline under realistic hospital-data degradation before any model sees the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463040"/>
            <a:ext cx="4937760" cy="4480560"/>
          </a:xfrm>
          <a:prstGeom prst="roundRect">
            <a:avLst>
              <a:gd name="adj" fmla="val 6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1463040"/>
            <a:ext cx="64008" cy="44805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48272" y="1609344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DD4BF"/>
                </a:solidFill>
                <a:latin typeface="Segoe UI"/>
              </a:rPr>
              <a:t>Corruption -&gt; cleaning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29968"/>
            <a:ext cx="443484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 b="0">
                <a:solidFill>
                  <a:srgbClr val="93A4BD"/>
                </a:solidFill>
                <a:latin typeface="Segoe UI"/>
              </a:rPr>
              <a:t>Output   </a:t>
            </a:r>
            <a:r>
              <a:rPr sz="1400" b="1">
                <a:solidFill>
                  <a:srgbClr val="E7ECF3"/>
                </a:solidFill>
                <a:latin typeface="Segoe UI"/>
              </a:rPr>
              <a:t>dirty_dataset.csv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 b="0">
                <a:solidFill>
                  <a:srgbClr val="93A4BD"/>
                </a:solidFill>
                <a:latin typeface="Segoe UI"/>
              </a:rPr>
              <a:t>Missingness   </a:t>
            </a:r>
            <a:r>
              <a:rPr sz="1400" b="1">
                <a:solidFill>
                  <a:srgbClr val="E7ECF3"/>
                </a:solidFill>
                <a:latin typeface="Segoe UI"/>
              </a:rPr>
              <a:t>12% of numeric cells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 b="0">
                <a:solidFill>
                  <a:srgbClr val="93A4BD"/>
                </a:solidFill>
                <a:latin typeface="Segoe UI"/>
              </a:rPr>
              <a:t>Duplicates   </a:t>
            </a:r>
            <a:r>
              <a:rPr sz="1400" b="1">
                <a:solidFill>
                  <a:srgbClr val="E7ECF3"/>
                </a:solidFill>
                <a:latin typeface="Segoe UI"/>
              </a:rPr>
              <a:t>14 injected rows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 b="0">
                <a:solidFill>
                  <a:srgbClr val="93A4BD"/>
                </a:solidFill>
                <a:latin typeface="Segoe UI"/>
              </a:rPr>
              <a:t>Outliers   </a:t>
            </a:r>
            <a:r>
              <a:rPr sz="1400" b="1">
                <a:solidFill>
                  <a:srgbClr val="E7ECF3"/>
                </a:solidFill>
                <a:latin typeface="Segoe UI"/>
              </a:rPr>
              <a:t>8 extreme points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 b="0">
                <a:solidFill>
                  <a:srgbClr val="93A4BD"/>
                </a:solidFill>
                <a:latin typeface="Segoe UI"/>
              </a:rPr>
              <a:t>String noise   </a:t>
            </a:r>
            <a:r>
              <a:rPr sz="1400" b="1">
                <a:solidFill>
                  <a:srgbClr val="E7ECF3"/>
                </a:solidFill>
                <a:latin typeface="Segoe UI"/>
              </a:rPr>
              <a:t>casing + whitespace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 b="0">
                <a:solidFill>
                  <a:srgbClr val="93A4BD"/>
                </a:solidFill>
                <a:latin typeface="Segoe UI"/>
              </a:rPr>
              <a:t>Seed   </a:t>
            </a:r>
            <a:r>
              <a:rPr sz="1400" b="1">
                <a:solidFill>
                  <a:srgbClr val="E7ECF3"/>
                </a:solidFill>
                <a:latin typeface="Segoe UI"/>
              </a:rPr>
              <a:t>random_state = 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4773168"/>
            <a:ext cx="4434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Why corrupt on purpose?  </a:t>
            </a:r>
            <a:r>
              <a:rPr sz="1200" b="0">
                <a:solidFill>
                  <a:srgbClr val="93A4BD"/>
                </a:solidFill>
                <a:latin typeface="Segoe UI"/>
              </a:rPr>
              <a:t>It makes the robustness of the cleaning stage measurable and keeps the experiment reproducible, rather than silently assuming clean inputs.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Segoe UI"/>
              </a:rPr>
              <a:t>03 -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7ECF3"/>
                </a:solidFill>
                <a:latin typeface="Segoe UI"/>
              </a:rPr>
              <a:t>Step B - Cleaning &amp;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4BD"/>
                </a:solidFill>
                <a:latin typeface="Segoe UI"/>
              </a:rPr>
              <a:t>Cascade Input-Doubling Pipeline  |  Izonin et al. (2025), Computation 13(3):80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3A4BD"/>
                </a:solidFill>
                <a:latin typeface="Segoe U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2587752" cy="1691640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2587752" cy="6400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801368"/>
            <a:ext cx="21488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8BDF8"/>
                </a:solidFill>
                <a:latin typeface="Segoe UI"/>
              </a:rPr>
              <a:t>STEP 1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E7ECF3"/>
                </a:solidFill>
                <a:latin typeface="Segoe UI"/>
              </a:rPr>
              <a:t>Deduplicate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3A4BD"/>
                </a:solidFill>
                <a:latin typeface="Segoe UI"/>
              </a:rPr>
              <a:t>Drop exact duplicate rows injected in Step 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8144" y="1508760"/>
            <a:ext cx="2587752" cy="1691640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38144" y="1508760"/>
            <a:ext cx="2587752" cy="6400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801368"/>
            <a:ext cx="21488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DD4BF"/>
                </a:solidFill>
                <a:latin typeface="Segoe UI"/>
              </a:rPr>
              <a:t>STEP 2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E7ECF3"/>
                </a:solidFill>
                <a:latin typeface="Segoe UI"/>
              </a:rPr>
              <a:t>Outlier capping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3A4BD"/>
                </a:solidFill>
                <a:latin typeface="Segoe UI"/>
              </a:rPr>
              <a:t>IQR clipping to [Q1 - 3*IQR, Q3 + 3*IQR].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508760"/>
            <a:ext cx="2587752" cy="1691640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508760"/>
            <a:ext cx="2587752" cy="6400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801368"/>
            <a:ext cx="21488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BBF24"/>
                </a:solidFill>
                <a:latin typeface="Segoe UI"/>
              </a:rPr>
              <a:t>STEP 3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E7ECF3"/>
                </a:solidFill>
                <a:latin typeface="Segoe UI"/>
              </a:rPr>
              <a:t>Imputation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3A4BD"/>
                </a:solidFill>
                <a:latin typeface="Segoe UI"/>
              </a:rPr>
              <a:t>Median (numeric) &amp; mode (categorical).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51392" y="1508760"/>
            <a:ext cx="2587752" cy="1691640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51392" y="1508760"/>
            <a:ext cx="2587752" cy="640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801368"/>
            <a:ext cx="21488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4D399"/>
                </a:solidFill>
                <a:latin typeface="Segoe UI"/>
              </a:rPr>
              <a:t>STEP 4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E7ECF3"/>
                </a:solidFill>
                <a:latin typeface="Segoe UI"/>
              </a:rPr>
              <a:t>Encode &amp; scale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3A4BD"/>
                </a:solidFill>
                <a:latin typeface="Segoe UI"/>
              </a:rPr>
              <a:t>One-hot categoricals + StandardScaler.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01568"/>
            <a:ext cx="10725912" cy="2468880"/>
          </a:xfrm>
          <a:prstGeom prst="roundRect">
            <a:avLst>
              <a:gd name="adj" fmla="val 6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401568"/>
            <a:ext cx="64008" cy="246888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3547872"/>
            <a:ext cx="10314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DD4BF"/>
                </a:solidFill>
                <a:latin typeface="Segoe UI"/>
              </a:rPr>
              <a:t>No-leakage guarantee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3968496"/>
            <a:ext cx="10222992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2DD4BF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BoneMarrowPreprocessor.fit() is called ONLY on the corrupted training set.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2DD4BF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transform() is then applied independently to train and to the clean 30-patient test cohort.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2DD4BF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Median/mode statistics, IQR bounds, scaler mean/std and encoder categories are all frozen from training.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4D399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Result: the test cohort is never seen during fitting - benchmark metrics are honest.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250" b="1">
                <a:solidFill>
                  <a:srgbClr val="93A4BD"/>
                </a:solidFill>
                <a:latin typeface="Segoe UI"/>
              </a:rPr>
              <a:t>  Artifacts: </a:t>
            </a:r>
            <a:r>
              <a:rPr sz="1250" b="1">
                <a:solidFill>
                  <a:srgbClr val="38BDF8"/>
                </a:solidFill>
                <a:latin typeface="Segoe UI"/>
              </a:rPr>
              <a:t>cleaned_dataset.csv</a:t>
            </a:r>
            <a:r>
              <a:rPr sz="1250" b="0">
                <a:solidFill>
                  <a:srgbClr val="93A4BD"/>
                </a:solidFill>
                <a:latin typeface="Segoe UI"/>
              </a:rPr>
              <a:t>  -  </a:t>
            </a:r>
            <a:r>
              <a:rPr sz="1250" b="1">
                <a:solidFill>
                  <a:srgbClr val="38BDF8"/>
                </a:solidFill>
                <a:latin typeface="Segoe UI"/>
              </a:rPr>
              <a:t>cleaned_test_dataset.csv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Segoe UI"/>
              </a:rPr>
              <a:t>04 - MODEL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7ECF3"/>
                </a:solidFill>
                <a:latin typeface="Segoe UI"/>
              </a:rPr>
              <a:t>OLS linear regression + bootstrapping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4BD"/>
                </a:solidFill>
                <a:latin typeface="Segoe UI"/>
              </a:rPr>
              <a:t>Cascade Input-Doubling Pipeline  |  Izonin et al. (2025), Computation 13(3):80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3A4BD"/>
                </a:solidFill>
                <a:latin typeface="Segoe U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349240" cy="4480560"/>
          </a:xfrm>
          <a:prstGeom prst="roundRect">
            <a:avLst>
              <a:gd name="adj" fmla="val 6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64008" cy="44805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60934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8BDF8"/>
                </a:solidFill>
                <a:latin typeface="Segoe UI"/>
              </a:rP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029968"/>
            <a:ext cx="484632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Ordinary Least Squares fit of survival_status on cleaned features.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100-iteration bootstrap resampling for coefficient stability.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Per-coefficient standard errors, 95% confidence intervals and p-values.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Residual diagnostics (absolute &amp; squared error tables).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Continuous output thresholded for binary classification.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350" b="1">
                <a:solidFill>
                  <a:srgbClr val="FBBF24"/>
                </a:solidFill>
                <a:latin typeface="Segoe UI"/>
              </a:rPr>
              <a:t>  Role: </a:t>
            </a:r>
            <a:r>
              <a:rPr sz="1350" b="0">
                <a:solidFill>
                  <a:srgbClr val="E7ECF3"/>
                </a:solidFill>
                <a:latin typeface="Segoe UI"/>
              </a:rPr>
              <a:t>transparent, interpretable baseline - the yardstick every cascade gain is measured against.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463040"/>
            <a:ext cx="5074920" cy="4480560"/>
          </a:xfrm>
          <a:prstGeom prst="roundRect">
            <a:avLst>
              <a:gd name="adj" fmla="val 6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463040"/>
            <a:ext cx="64008" cy="44805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160934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DD4BF"/>
                </a:solidFill>
                <a:latin typeface="Segoe UI"/>
              </a:rPr>
              <a:t>Exports &amp; diagnostics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029968"/>
            <a:ext cx="457200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200">
                <a:solidFill>
                  <a:srgbClr val="2DD4BF"/>
                </a:solidFill>
                <a:latin typeface="Segoe UI"/>
              </a:rPr>
              <a:t>•  </a:t>
            </a:r>
            <a:r>
              <a:rPr sz="1200" b="0">
                <a:solidFill>
                  <a:srgbClr val="E7ECF3"/>
                </a:solidFill>
                <a:latin typeface="Consolas"/>
              </a:rPr>
              <a:t>bootstrapped_coefficients.csv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200">
                <a:solidFill>
                  <a:srgbClr val="2DD4BF"/>
                </a:solidFill>
                <a:latin typeface="Segoe UI"/>
              </a:rPr>
              <a:t>•  </a:t>
            </a:r>
            <a:r>
              <a:rPr sz="1200" b="0">
                <a:solidFill>
                  <a:srgbClr val="E7ECF3"/>
                </a:solidFill>
                <a:latin typeface="Consolas"/>
              </a:rPr>
              <a:t>regression_errors.csv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2DD4BF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Bootstrapped regression fits with 95% CI band (figure).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4224528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FBBF24"/>
                </a:solidFill>
                <a:latin typeface="Segoe UI"/>
              </a:rPr>
              <a:t>Bootstrapping in one line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200" b="0">
                <a:solidFill>
                  <a:srgbClr val="93A4BD"/>
                </a:solidFill>
                <a:latin typeface="Segoe UI"/>
              </a:rPr>
              <a:t>Resample the training set with replacement, refit OLS, and record coefficients. Repeating 100x yields an empirical sampling distribution, so uncertainty can be reported without distributional assumptions.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Segoe UI"/>
              </a:rPr>
              <a:t>05 - MODEL 2 / STAGE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7ECF3"/>
                </a:solidFill>
                <a:latin typeface="Segoe UI"/>
              </a:rPr>
              <a:t>PNN probability expansion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4BD"/>
                </a:solidFill>
                <a:latin typeface="Segoe UI"/>
              </a:rPr>
              <a:t>Cascade Input-Doubling Pipeline  |  Izonin et al. (2025), Computation 13(3):80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3A4BD"/>
                </a:solidFill>
                <a:latin typeface="Segoe U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6492240" cy="4480560"/>
          </a:xfrm>
          <a:prstGeom prst="roundRect">
            <a:avLst>
              <a:gd name="adj" fmla="val 6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64008" cy="44805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609344"/>
            <a:ext cx="6080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8BDF8"/>
                </a:solidFill>
                <a:latin typeface="Segoe UI"/>
              </a:rPr>
              <a:t>Distance &amp; kernel mechanics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029968"/>
            <a:ext cx="598932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Three distance matrices to the training support set: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2DD4BF"/>
                </a:solidFill>
                <a:latin typeface="Segoe UI"/>
              </a:rPr>
              <a:t>     •  </a:t>
            </a:r>
            <a:r>
              <a:rPr sz="1400" b="0">
                <a:solidFill>
                  <a:srgbClr val="E7ECF3"/>
                </a:solidFill>
                <a:latin typeface="Segoe UI"/>
              </a:rPr>
              <a:t>Euclidean  -  Chebyshev  -  Cosine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Gaussian kernel   K = exp( -d^2 / (2*sigma^2) )   with smooth factor sigma.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For each metric, posterior for class 1 = mean(K | class 1) / (mean(K | class 0) + mean(K | class 1)).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Outputs three probabilities appended to the original vector: [x | P_E, P_Cheb, P_Cos].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FBBF24"/>
                </a:solidFill>
                <a:latin typeface="Segoe UI"/>
              </a:rPr>
              <a:t>  Effect: </a:t>
            </a:r>
            <a:r>
              <a:rPr sz="1300" b="0">
                <a:solidFill>
                  <a:srgbClr val="E7ECF3"/>
                </a:solidFill>
                <a:latin typeface="Segoe UI"/>
              </a:rPr>
              <a:t>the classifier sees a richer, non-linear projection of a low-dimensional clinical space - the core thesis of Izonin et al. (2025).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463040"/>
            <a:ext cx="3931920" cy="4480560"/>
          </a:xfrm>
          <a:prstGeom prst="roundRect">
            <a:avLst>
              <a:gd name="adj" fmla="val 6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1463040"/>
            <a:ext cx="64008" cy="44805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54111" y="1609344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DD4BF"/>
                </a:solidFill>
                <a:latin typeface="Segoe UI"/>
              </a:rPr>
              <a:t>Implementation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4111" y="2029968"/>
            <a:ext cx="342900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Consolas"/>
              </a:rPr>
              <a:t>class PNNProbabilityExpander: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E7ECF3"/>
                </a:solidFill>
                <a:latin typeface="Consolas"/>
              </a:rPr>
              <a:t>    def fit(X, y) -&gt; self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E7ECF3"/>
                </a:solidFill>
                <a:latin typeface="Consolas"/>
              </a:rPr>
              <a:t>    def transform(X) -&gt; (N, 3)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E7ECF3"/>
                </a:solidFill>
                <a:latin typeface="Consolas"/>
              </a:rPr>
              <a:t>        [P_euclid,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E7ECF3"/>
                </a:solidFill>
                <a:latin typeface="Consolas"/>
              </a:rPr>
              <a:t>         P_cheb,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E7ECF3"/>
                </a:solidFill>
                <a:latin typeface="Consolas"/>
              </a:rPr>
              <a:t>         P_cosine]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E7ECF3"/>
                </a:solidFill>
                <a:latin typeface="Consolas"/>
              </a:rPr>
              <a:t>    def expand_features(X)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E7ECF3"/>
                </a:solidFill>
                <a:latin typeface="Consolas"/>
              </a:rPr>
              <a:t>        -&gt; hstack([X, probs])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Segoe UI"/>
              </a:rPr>
              <a:t>05 - MODEL 2 / STAGE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7ECF3"/>
                </a:solidFill>
                <a:latin typeface="Segoe UI"/>
              </a:rPr>
              <a:t>Quadratic input-doubling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4BD"/>
                </a:solidFill>
                <a:latin typeface="Segoe UI"/>
              </a:rPr>
              <a:t>Cascade Input-Doubling Pipeline  |  Izonin et al. (2025), Computation 13(3):80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3A4BD"/>
                </a:solidFill>
                <a:latin typeface="Segoe U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486400" cy="4480560"/>
          </a:xfrm>
          <a:prstGeom prst="roundRect">
            <a:avLst>
              <a:gd name="adj" fmla="val 6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64008" cy="44805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609344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DD4BF"/>
                </a:solidFill>
                <a:latin typeface="Segoe UI"/>
              </a:rPr>
              <a:t>Augmentation recipe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029968"/>
            <a:ext cx="498348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2DD4BF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For each sample i, pair it with a random subset of other samples j.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2DD4BF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Concatenate the two expanded vectors: [ x_exp_i | x_exp_j ].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2DD4BF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The learning target becomes the class difference:  z = y_i - y_j  in {-1, 0, +1}.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2DD4BF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Up to 8,000 pairs generated (stratified), capped for tractability.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2DD4BF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Turns N=157 rows into thousands of informative pairwise comparisons.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463040"/>
            <a:ext cx="4937760" cy="4480560"/>
          </a:xfrm>
          <a:prstGeom prst="roundRect">
            <a:avLst>
              <a:gd name="adj" fmla="val 6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1463040"/>
            <a:ext cx="64008" cy="44805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48272" y="1609344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8BDF8"/>
                </a:solidFill>
                <a:latin typeface="Segoe UI"/>
              </a:rPr>
              <a:t>Why it mitigates small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29968"/>
            <a:ext cx="443484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350" b="1">
                <a:solidFill>
                  <a:srgbClr val="38BDF8"/>
                </a:solidFill>
                <a:latin typeface="Segoe UI"/>
              </a:rPr>
              <a:t>1.  </a:t>
            </a:r>
            <a:r>
              <a:rPr sz="1350" b="0">
                <a:solidFill>
                  <a:srgbClr val="E7ECF3"/>
                </a:solidFill>
                <a:latin typeface="Segoe UI"/>
              </a:rPr>
              <a:t>Effective sample-size expansion without fabricating labels - every pair is grounded in two real patients.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350" b="1">
                <a:solidFill>
                  <a:srgbClr val="38BDF8"/>
                </a:solidFill>
                <a:latin typeface="Segoe UI"/>
              </a:rPr>
              <a:t>2.  </a:t>
            </a:r>
            <a:r>
              <a:rPr sz="1350" b="0">
                <a:solidFill>
                  <a:srgbClr val="E7ECF3"/>
                </a:solidFill>
                <a:latin typeface="Segoe UI"/>
              </a:rPr>
              <a:t>Pairwise difference targets capture ordinal structure and reduce sensitivity to class imbalance.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350" b="1">
                <a:solidFill>
                  <a:srgbClr val="38BDF8"/>
                </a:solidFill>
                <a:latin typeface="Segoe UI"/>
              </a:rPr>
              <a:t>3.  </a:t>
            </a:r>
            <a:r>
              <a:rPr sz="1350" b="0">
                <a:solidFill>
                  <a:srgbClr val="E7ECF3"/>
                </a:solidFill>
                <a:latin typeface="Segoe UI"/>
              </a:rPr>
              <a:t>The doubled space exposes relative (rather than absolute) clinical signatures to the meta-learner.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350" b="1">
                <a:solidFill>
                  <a:srgbClr val="38BDF8"/>
                </a:solidFill>
                <a:latin typeface="Segoe UI"/>
              </a:rPr>
              <a:t>4.  </a:t>
            </a:r>
            <a:r>
              <a:rPr sz="1350" b="0">
                <a:solidFill>
                  <a:srgbClr val="E7ECF3"/>
                </a:solidFill>
                <a:latin typeface="Segoe UI"/>
              </a:rPr>
              <a:t>Regularization by construction: redundant pairs average out idiosyncratic noise.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Segoe UI"/>
              </a:rPr>
              <a:t>05 - MODEL 2 / STAGE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7ECF3"/>
                </a:solidFill>
                <a:latin typeface="Segoe UI"/>
              </a:rPr>
              <a:t>Random Forest meta-classifier &amp; voting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4BD"/>
                </a:solidFill>
                <a:latin typeface="Segoe UI"/>
              </a:rPr>
              <a:t>Cascade Input-Doubling Pipeline  |  Izonin et al. (2025), Computation 13(3):80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3A4BD"/>
                </a:solidFill>
                <a:latin typeface="Segoe U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349240" cy="4480560"/>
          </a:xfrm>
          <a:prstGeom prst="roundRect">
            <a:avLst>
              <a:gd name="adj" fmla="val 6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64008" cy="44805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60934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BBF24"/>
                </a:solidFill>
                <a:latin typeface="Segoe UI"/>
              </a:rPr>
              <a:t>Meta-learner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029968"/>
            <a:ext cx="484632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FBBF24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RandomForestClassifier trained on the doubled feature space.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FBBF24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Learns the difference function z = y_i - y_j.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FBBF24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Gini feature importance aggregated back to original + PNN features.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FBBF24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n_estimators and max_depth tuned by global optimization.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463040"/>
            <a:ext cx="5074920" cy="4480560"/>
          </a:xfrm>
          <a:prstGeom prst="roundRect">
            <a:avLst>
              <a:gd name="adj" fmla="val 6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463040"/>
            <a:ext cx="64008" cy="44805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160934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8BDF8"/>
                </a:solidFill>
                <a:latin typeface="Segoe UI"/>
              </a:rPr>
              <a:t>Inference: plurality voting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029968"/>
            <a:ext cx="457200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Select fixed reference training vectors (support set).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Pair each test sample with every reference -&gt; predict z_hat.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Derive a vote:  y_test = y_ref + z_hat, clipped to {0, 1}.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Class 1 probability = fraction of references voting Deceased.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Final label by plurality of votes - robust to single-pair errors.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  Benefit: </a:t>
            </a:r>
            <a:r>
              <a:rPr sz="1300" b="0">
                <a:solidFill>
                  <a:srgbClr val="E7ECF3"/>
                </a:solidFill>
                <a:latin typeface="Segoe UI"/>
              </a:rPr>
              <a:t>ensemble of many relative judgments instead of one brittle absolute prediction.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Segoe UI"/>
              </a:rPr>
              <a:t>05 - MODEL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7ECF3"/>
                </a:solidFill>
                <a:latin typeface="Segoe UI"/>
              </a:rPr>
              <a:t>Hyperparameter optimization - Dual Annealing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4BD"/>
                </a:solidFill>
                <a:latin typeface="Segoe UI"/>
              </a:rPr>
              <a:t>Cascade Input-Doubling Pipeline  |  Izonin et al. (2025), Computation 13(3):80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3A4BD"/>
                </a:solidFill>
                <a:latin typeface="Segoe U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029200" cy="4480560"/>
          </a:xfrm>
          <a:prstGeom prst="roundRect">
            <a:avLst>
              <a:gd name="adj" fmla="val 6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64008" cy="44805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609344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8BDF8"/>
                </a:solidFill>
                <a:latin typeface="Segoe UI"/>
              </a:rPr>
              <a:t>Search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029968"/>
            <a:ext cx="452628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scipy.optimize.dual_annealing - global, derivative-free search.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Objective: maximize  mean_F1 + 0.5 * mean_MCC  under 3-fold Stratified CV.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Bounds:  sigma in [0.2, 3.5]   |   n_estimators in [50, 150]   |   max_depth in [4, 14].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15 evaluated trials logged with CV F1 and MCC per trial.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2DD4BF"/>
                </a:solidFill>
                <a:latin typeface="Segoe UI"/>
              </a:rPr>
              <a:t>  Optimal configuration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 b="1">
                <a:solidFill>
                  <a:srgbClr val="E7ECF3"/>
                </a:solidFill>
                <a:latin typeface="Consolas"/>
              </a:rPr>
              <a:t>sigma = 3.2183   -   n_estimators = 80   -   max_depth = 9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35040" y="1828800"/>
          <a:ext cx="5394958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1092"/>
                <a:gridCol w="647395"/>
                <a:gridCol w="827227"/>
                <a:gridCol w="647395"/>
                <a:gridCol w="719328"/>
                <a:gridCol w="755294"/>
                <a:gridCol w="827227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Dist.</a:t>
                      </a:r>
                    </a:p>
                  </a:txBody>
                  <a:tcPr marL="73152" marR="54864" marT="18288" marB="18288" anchor="ctr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Trial</a:t>
                      </a:r>
                    </a:p>
                  </a:txBody>
                  <a:tcPr marL="73152" marR="54864" marT="18288" marB="18288" anchor="ctr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Sigma</a:t>
                      </a:r>
                    </a:p>
                  </a:txBody>
                  <a:tcPr marL="73152" marR="54864" marT="18288" marB="18288" anchor="ctr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n_est</a:t>
                      </a:r>
                    </a:p>
                  </a:txBody>
                  <a:tcPr marL="73152" marR="54864" marT="18288" marB="18288" anchor="ctr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Depth</a:t>
                      </a:r>
                    </a:p>
                  </a:txBody>
                  <a:tcPr marL="73152" marR="54864" marT="18288" marB="18288" anchor="ctr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CV F1</a:t>
                      </a:r>
                    </a:p>
                  </a:txBody>
                  <a:tcPr marL="73152" marR="54864" marT="18288" marB="18288" anchor="ctr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CV MCC</a:t>
                      </a:r>
                    </a:p>
                  </a:txBody>
                  <a:tcPr marL="73152" marR="54864" marT="18288" marB="18288" anchor="ctr">
                    <a:solidFill>
                      <a:srgbClr val="141E3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E,C,Cos</a:t>
                      </a:r>
                    </a:p>
                  </a:txBody>
                  <a:tcPr marL="73152" marR="54864" marT="18288" marB="18288" anchor="ctr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73152" marR="54864" marT="18288" marB="18288" anchor="ctr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3.2183</a:t>
                      </a:r>
                    </a:p>
                  </a:txBody>
                  <a:tcPr marL="73152" marR="54864" marT="18288" marB="18288" anchor="ctr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80</a:t>
                      </a:r>
                    </a:p>
                  </a:txBody>
                  <a:tcPr marL="73152" marR="54864" marT="18288" marB="18288" anchor="ctr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73152" marR="54864" marT="18288" marB="18288" anchor="ctr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0.8120</a:t>
                      </a:r>
                    </a:p>
                  </a:txBody>
                  <a:tcPr marL="73152" marR="54864" marT="18288" marB="18288" anchor="ctr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0.6504</a:t>
                      </a:r>
                    </a:p>
                  </a:txBody>
                  <a:tcPr marL="73152" marR="54864" marT="18288" marB="18288" anchor="ctr">
                    <a:solidFill>
                      <a:srgbClr val="141E3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E,C,Cos</a:t>
                      </a:r>
                    </a:p>
                  </a:txBody>
                  <a:tcPr marL="73152" marR="54864" marT="18288" marB="18288" anchor="ctr">
                    <a:solidFill>
                      <a:srgbClr val="1B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73152" marR="54864" marT="18288" marB="18288" anchor="ctr">
                    <a:solidFill>
                      <a:srgbClr val="1B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2.2774</a:t>
                      </a:r>
                    </a:p>
                  </a:txBody>
                  <a:tcPr marL="73152" marR="54864" marT="18288" marB="18288" anchor="ctr">
                    <a:solidFill>
                      <a:srgbClr val="1B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70</a:t>
                      </a:r>
                    </a:p>
                  </a:txBody>
                  <a:tcPr marL="73152" marR="54864" marT="18288" marB="18288" anchor="ctr">
                    <a:solidFill>
                      <a:srgbClr val="1B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73152" marR="54864" marT="18288" marB="18288" anchor="ctr">
                    <a:solidFill>
                      <a:srgbClr val="1B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0.8071</a:t>
                      </a:r>
                    </a:p>
                  </a:txBody>
                  <a:tcPr marL="73152" marR="54864" marT="18288" marB="18288" anchor="ctr">
                    <a:solidFill>
                      <a:srgbClr val="1B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0.6383</a:t>
                      </a:r>
                    </a:p>
                  </a:txBody>
                  <a:tcPr marL="73152" marR="54864" marT="18288" marB="18288" anchor="ctr">
                    <a:solidFill>
                      <a:srgbClr val="1B274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E,C,Cos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2.1533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50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0.7812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0.6007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E,C,Cos</a:t>
                      </a:r>
                    </a:p>
                  </a:txBody>
                  <a:tcPr marL="73152" marR="54864" marT="18288" marB="18288" anchor="ctr">
                    <a:solidFill>
                      <a:srgbClr val="1B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73152" marR="54864" marT="18288" marB="18288" anchor="ctr">
                    <a:solidFill>
                      <a:srgbClr val="1B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1.2460</a:t>
                      </a:r>
                    </a:p>
                  </a:txBody>
                  <a:tcPr marL="73152" marR="54864" marT="18288" marB="18288" anchor="ctr">
                    <a:solidFill>
                      <a:srgbClr val="1B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105</a:t>
                      </a:r>
                    </a:p>
                  </a:txBody>
                  <a:tcPr marL="73152" marR="54864" marT="18288" marB="18288" anchor="ctr">
                    <a:solidFill>
                      <a:srgbClr val="1B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73152" marR="54864" marT="18288" marB="18288" anchor="ctr">
                    <a:solidFill>
                      <a:srgbClr val="1B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0.7674</a:t>
                      </a:r>
                    </a:p>
                  </a:txBody>
                  <a:tcPr marL="73152" marR="54864" marT="18288" marB="18288" anchor="ctr">
                    <a:solidFill>
                      <a:srgbClr val="1B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0.5703</a:t>
                      </a:r>
                    </a:p>
                  </a:txBody>
                  <a:tcPr marL="73152" marR="54864" marT="18288" marB="18288" anchor="ctr">
                    <a:solidFill>
                      <a:srgbClr val="1B274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E,C,Cos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1.4686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93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0.7652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7ECF3"/>
                          </a:solidFill>
                          <a:latin typeface="Segoe UI"/>
                        </a:rPr>
                        <a:t>0.5603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035040" y="4754880"/>
            <a:ext cx="5394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93A4BD"/>
                </a:solidFill>
                <a:latin typeface="Segoe UI"/>
              </a:rPr>
              <a:t>Top 5 of 15 Dual Annealing trials (E = Euclidean, C = Chebyshev, Cos = Cosine). Trial 3 is the global optimum.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Segoe UI"/>
              </a:rPr>
              <a:t>06 -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7ECF3"/>
                </a:solidFill>
                <a:latin typeface="Segoe UI"/>
              </a:rPr>
              <a:t>Benchmark on the held-out test cohort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4BD"/>
                </a:solidFill>
                <a:latin typeface="Segoe UI"/>
              </a:rPr>
              <a:t>Cascade Input-Doubling Pipeline  |  Izonin et al. (2025), Computation 13(3):80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3A4BD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3A4BD"/>
                </a:solidFill>
                <a:latin typeface="Segoe UI"/>
              </a:rPr>
              <a:t>Independent clean test set - 30 patients (20 survived, 10 deceased), never seen during training or tuning.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874519"/>
          <a:ext cx="10698475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6059"/>
                <a:gridCol w="930302"/>
                <a:gridCol w="930302"/>
                <a:gridCol w="930302"/>
                <a:gridCol w="930302"/>
                <a:gridCol w="930302"/>
                <a:gridCol w="930302"/>
                <a:gridCol w="930302"/>
                <a:gridCol w="930302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73152" marR="54864" marT="18288" marB="18288" anchor="ctr"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Acc.</a:t>
                      </a:r>
                    </a:p>
                  </a:txBody>
                  <a:tcPr marL="73152" marR="54864" marT="18288" marB="18288" anchor="ctr"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Prec.</a:t>
                      </a:r>
                    </a:p>
                  </a:txBody>
                  <a:tcPr marL="73152" marR="54864" marT="18288" marB="18288" anchor="ctr"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Recall</a:t>
                      </a:r>
                    </a:p>
                  </a:txBody>
                  <a:tcPr marL="73152" marR="54864" marT="18288" marB="18288" anchor="ctr"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F1</a:t>
                      </a:r>
                    </a:p>
                  </a:txBody>
                  <a:tcPr marL="73152" marR="54864" marT="18288" marB="18288" anchor="ctr"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MCC</a:t>
                      </a:r>
                    </a:p>
                  </a:txBody>
                  <a:tcPr marL="73152" marR="54864" marT="18288" marB="18288" anchor="ctr"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Kappa</a:t>
                      </a:r>
                    </a:p>
                  </a:txBody>
                  <a:tcPr marL="73152" marR="54864" marT="18288" marB="18288" anchor="ctr"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RMSE</a:t>
                      </a:r>
                    </a:p>
                  </a:txBody>
                  <a:tcPr marL="73152" marR="54864" marT="18288" marB="18288" anchor="ctr"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MAE</a:t>
                      </a:r>
                    </a:p>
                  </a:txBody>
                  <a:tcPr marL="73152" marR="54864" marT="18288" marB="18288" anchor="ctr">
                    <a:solidFill>
                      <a:srgbClr val="38BD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Linear Regression (OLS)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0.9333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0.8333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1.0000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0.9091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0.8660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0.8571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0.3186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0.2597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Hybrid Cascade (Algorithm 1)</a:t>
                      </a:r>
                    </a:p>
                  </a:txBody>
                  <a:tcPr marL="73152" marR="54864" marT="18288" marB="18288" anchor="ctr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0.9333</a:t>
                      </a:r>
                    </a:p>
                  </a:txBody>
                  <a:tcPr marL="73152" marR="54864" marT="18288" marB="18288" anchor="ctr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1.0000</a:t>
                      </a:r>
                    </a:p>
                  </a:txBody>
                  <a:tcPr marL="73152" marR="54864" marT="18288" marB="18288" anchor="ctr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0.8000</a:t>
                      </a:r>
                    </a:p>
                  </a:txBody>
                  <a:tcPr marL="73152" marR="54864" marT="18288" marB="18288" anchor="ctr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0.8889</a:t>
                      </a:r>
                    </a:p>
                  </a:txBody>
                  <a:tcPr marL="73152" marR="54864" marT="18288" marB="18288" anchor="ctr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0.8528</a:t>
                      </a:r>
                    </a:p>
                  </a:txBody>
                  <a:tcPr marL="73152" marR="54864" marT="18288" marB="18288" anchor="ctr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0.8421</a:t>
                      </a:r>
                    </a:p>
                  </a:txBody>
                  <a:tcPr marL="73152" marR="54864" marT="18288" marB="18288" anchor="ctr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0.2165</a:t>
                      </a:r>
                    </a:p>
                  </a:txBody>
                  <a:tcPr marL="73152" marR="54864" marT="18288" marB="18288" anchor="ctr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0.0637</a:t>
                      </a:r>
                    </a:p>
                  </a:txBody>
                  <a:tcPr marL="73152" marR="54864" marT="18288" marB="18288" anchor="ctr">
                    <a:solidFill>
                      <a:srgbClr val="141E3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Combined Ensemble Blend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0.9333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1.0000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0.8000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0.8889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0.8528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0.8421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0.2083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0.1408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31520" y="3977639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977639"/>
            <a:ext cx="64008" cy="1874519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123943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Segoe UI"/>
              </a:rPr>
              <a:t>MAE reduction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544567"/>
            <a:ext cx="2926080" cy="11612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4D399"/>
                </a:solidFill>
                <a:latin typeface="Segoe UI"/>
              </a:rPr>
              <a:t>75.5%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4BD"/>
                </a:solidFill>
                <a:latin typeface="Segoe UI"/>
              </a:rPr>
              <a:t>0.2597 -&gt; 0.0637 vs OLS baseline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3977639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3977639"/>
            <a:ext cx="64008" cy="1874519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6864" y="4123943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8BDF8"/>
                </a:solidFill>
                <a:latin typeface="Segoe UI"/>
              </a:rPr>
              <a:t>RMSE reduction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4544567"/>
            <a:ext cx="2926080" cy="11612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8BDF8"/>
                </a:solidFill>
                <a:latin typeface="Segoe UI"/>
              </a:rPr>
              <a:t>32.1%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4BD"/>
                </a:solidFill>
                <a:latin typeface="Segoe UI"/>
              </a:rPr>
              <a:t>0.3186 -&gt; 0.2165 vs OLS baseline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3977639"/>
            <a:ext cx="3419856" cy="1874519"/>
          </a:xfrm>
          <a:prstGeom prst="roundRect">
            <a:avLst>
              <a:gd name="adj" fmla="val 6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0144" y="3977639"/>
            <a:ext cx="64008" cy="1874519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6" y="4123943"/>
            <a:ext cx="3008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BBF24"/>
                </a:solidFill>
                <a:latin typeface="Segoe UI"/>
              </a:rPr>
              <a:t>Zero false positives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4544567"/>
            <a:ext cx="2916936" cy="11612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BBF24"/>
                </a:solidFill>
                <a:latin typeface="Segoe UI"/>
              </a:rPr>
              <a:t>Prec 1.00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4BD"/>
                </a:solidFill>
                <a:latin typeface="Segoe UI"/>
              </a:rPr>
              <a:t>Specificity 1.00 - no healthy patient flagged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Segoe UI"/>
              </a:rPr>
              <a:t>06 -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7ECF3"/>
                </a:solidFill>
                <a:latin typeface="Segoe UI"/>
              </a:rPr>
              <a:t>Confusion matrices &amp; the OLS trade-off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4BD"/>
                </a:solidFill>
                <a:latin typeface="Segoe UI"/>
              </a:rPr>
              <a:t>Cascade Input-Doubling Pipeline  |  Izonin et al. (2025), Computation 13(3):80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3A4BD"/>
                </a:solidFill>
                <a:latin typeface="Segoe UI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00200"/>
          <a:ext cx="10698478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3394"/>
                <a:gridCol w="867444"/>
                <a:gridCol w="867444"/>
                <a:gridCol w="867444"/>
                <a:gridCol w="867444"/>
                <a:gridCol w="963827"/>
                <a:gridCol w="963827"/>
                <a:gridCol w="963827"/>
                <a:gridCol w="963827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73152" marR="54864" marT="18288" marB="18288" anchor="ctr"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TP</a:t>
                      </a:r>
                    </a:p>
                  </a:txBody>
                  <a:tcPr marL="73152" marR="54864" marT="18288" marB="18288" anchor="ctr"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FP</a:t>
                      </a:r>
                    </a:p>
                  </a:txBody>
                  <a:tcPr marL="73152" marR="54864" marT="18288" marB="18288" anchor="ctr"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TN</a:t>
                      </a:r>
                    </a:p>
                  </a:txBody>
                  <a:tcPr marL="73152" marR="54864" marT="18288" marB="18288" anchor="ctr"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FN</a:t>
                      </a:r>
                    </a:p>
                  </a:txBody>
                  <a:tcPr marL="73152" marR="54864" marT="18288" marB="18288" anchor="ctr"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Sens.</a:t>
                      </a:r>
                    </a:p>
                  </a:txBody>
                  <a:tcPr marL="73152" marR="54864" marT="18288" marB="18288" anchor="ctr"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Spec.</a:t>
                      </a:r>
                    </a:p>
                  </a:txBody>
                  <a:tcPr marL="73152" marR="54864" marT="18288" marB="18288" anchor="ctr"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PPV</a:t>
                      </a:r>
                    </a:p>
                  </a:txBody>
                  <a:tcPr marL="73152" marR="54864" marT="18288" marB="18288" anchor="ctr"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NPV</a:t>
                      </a:r>
                    </a:p>
                  </a:txBody>
                  <a:tcPr marL="73152" marR="54864" marT="18288" marB="18288" anchor="ctr">
                    <a:solidFill>
                      <a:srgbClr val="38BD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Linear Regression (OLS)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1.000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0.900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0.833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1.000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Hybrid Cascade (Algorithm 1)</a:t>
                      </a:r>
                    </a:p>
                  </a:txBody>
                  <a:tcPr marL="73152" marR="54864" marT="18288" marB="18288" anchor="ctr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73152" marR="54864" marT="18288" marB="18288" anchor="ctr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73152" marR="54864" marT="18288" marB="18288" anchor="ctr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73152" marR="54864" marT="18288" marB="18288" anchor="ctr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54864" marT="18288" marB="18288" anchor="ctr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0.800</a:t>
                      </a:r>
                    </a:p>
                  </a:txBody>
                  <a:tcPr marL="73152" marR="54864" marT="18288" marB="18288" anchor="ctr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1.000</a:t>
                      </a:r>
                    </a:p>
                  </a:txBody>
                  <a:tcPr marL="73152" marR="54864" marT="18288" marB="18288" anchor="ctr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1.000</a:t>
                      </a:r>
                    </a:p>
                  </a:txBody>
                  <a:tcPr marL="73152" marR="54864" marT="18288" marB="18288" anchor="ctr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0.909</a:t>
                      </a:r>
                    </a:p>
                  </a:txBody>
                  <a:tcPr marL="73152" marR="54864" marT="18288" marB="18288" anchor="ctr">
                    <a:solidFill>
                      <a:srgbClr val="141E3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Combined Ensemble Blend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0.800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1.000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1.000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7ECF3"/>
                          </a:solidFill>
                          <a:latin typeface="Segoe UI"/>
                        </a:rPr>
                        <a:t>0.909</a:t>
                      </a:r>
                    </a:p>
                  </a:txBody>
                  <a:tcPr marL="73152" marR="54864" marT="18288" marB="18288"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3703320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703320"/>
            <a:ext cx="64008" cy="21488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84962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8BDF8"/>
                </a:solidFill>
                <a:latin typeface="Segoe UI"/>
              </a:rPr>
              <a:t>OLS: sensitive but over-flags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270248"/>
            <a:ext cx="4846320" cy="143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Catches every deceased patient (recall = 1.00).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But 2 false positives - healthy survivors flagged as deceased.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FBBF24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In transplant triage, false alarms drive unnecessary invasive work-ups.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703320"/>
            <a:ext cx="5074920" cy="2148840"/>
          </a:xfrm>
          <a:prstGeom prst="roundRect">
            <a:avLst>
              <a:gd name="adj" fmla="val 6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3703320"/>
            <a:ext cx="64008" cy="21488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384962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Segoe UI"/>
              </a:rPr>
              <a:t>Cascade: precise, zero false positives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4270248"/>
            <a:ext cx="4572000" cy="143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4D399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No false positives (FP = 0), specificity &amp; precision = 1.00.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4D399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Trades 2 missed deceased (FN) for eliminating false alarms.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2DD4BF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Better calibrated for high-stakes, precision-first decisions.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Segoe UI"/>
              </a:rPr>
              <a:t>06 -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7ECF3"/>
                </a:solidFill>
                <a:latin typeface="Segoe UI"/>
              </a:rPr>
              <a:t>Feature importance - the PNN signal dominates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4BD"/>
                </a:solidFill>
                <a:latin typeface="Segoe UI"/>
              </a:rPr>
              <a:t>Cascade Input-Doubling Pipeline  |  Izonin et al. (2025), Computation 13(3):80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3A4BD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2926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CF3"/>
                </a:solidFill>
                <a:latin typeface="Consolas"/>
              </a:rPr>
              <a:t>PNN_Euclid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664208"/>
            <a:ext cx="6675120" cy="256032"/>
          </a:xfrm>
          <a:prstGeom prst="roundRect">
            <a:avLst>
              <a:gd name="adj" fmla="val 30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0" y="1664208"/>
            <a:ext cx="6601508" cy="256032"/>
          </a:xfrm>
          <a:prstGeom prst="roundRect">
            <a:avLst>
              <a:gd name="adj" fmla="val 3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25328" y="1600200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4BD"/>
                </a:solidFill>
                <a:latin typeface="Segoe UI"/>
              </a:rPr>
              <a:t>0.3560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03120"/>
            <a:ext cx="2926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CF3"/>
                </a:solidFill>
                <a:latin typeface="Consolas"/>
              </a:rPr>
              <a:t>survival_time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2167128"/>
            <a:ext cx="6675120" cy="256032"/>
          </a:xfrm>
          <a:prstGeom prst="roundRect">
            <a:avLst>
              <a:gd name="adj" fmla="val 30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0" y="2167128"/>
            <a:ext cx="3673541" cy="256032"/>
          </a:xfrm>
          <a:prstGeom prst="roundRect">
            <a:avLst>
              <a:gd name="adj" fmla="val 3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25328" y="2103120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4BD"/>
                </a:solidFill>
                <a:latin typeface="Segoe UI"/>
              </a:rPr>
              <a:t>0.1981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606040"/>
            <a:ext cx="2926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CF3"/>
                </a:solidFill>
                <a:latin typeface="Consolas"/>
              </a:rPr>
              <a:t>PNN_Cosine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2670048"/>
            <a:ext cx="6675120" cy="256032"/>
          </a:xfrm>
          <a:prstGeom prst="roundRect">
            <a:avLst>
              <a:gd name="adj" fmla="val 30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40480" y="2670048"/>
            <a:ext cx="2138634" cy="256032"/>
          </a:xfrm>
          <a:prstGeom prst="roundRect">
            <a:avLst>
              <a:gd name="adj" fmla="val 3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25328" y="2606040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4BD"/>
                </a:solidFill>
                <a:latin typeface="Segoe UI"/>
              </a:rPr>
              <a:t>0.1153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108960"/>
            <a:ext cx="2926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CF3"/>
                </a:solidFill>
                <a:latin typeface="Consolas"/>
              </a:rPr>
              <a:t>PNN_Chebyshev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3172968"/>
            <a:ext cx="6675120" cy="256032"/>
          </a:xfrm>
          <a:prstGeom prst="roundRect">
            <a:avLst>
              <a:gd name="adj" fmla="val 30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840480" y="3172968"/>
            <a:ext cx="1471863" cy="256032"/>
          </a:xfrm>
          <a:prstGeom prst="roundRect">
            <a:avLst>
              <a:gd name="adj" fmla="val 3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25328" y="3108960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4BD"/>
                </a:solidFill>
                <a:latin typeface="Segoe UI"/>
              </a:rPr>
              <a:t>0.0794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611880"/>
            <a:ext cx="2926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CF3"/>
                </a:solidFill>
                <a:latin typeface="Consolas"/>
              </a:rPr>
              <a:t>CD34kgx10d6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0" y="3675888"/>
            <a:ext cx="6675120" cy="256032"/>
          </a:xfrm>
          <a:prstGeom prst="roundRect">
            <a:avLst>
              <a:gd name="adj" fmla="val 30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840480" y="3675888"/>
            <a:ext cx="397169" cy="256032"/>
          </a:xfrm>
          <a:prstGeom prst="roundRect">
            <a:avLst>
              <a:gd name="adj" fmla="val 3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25328" y="3611880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4BD"/>
                </a:solidFill>
                <a:latin typeface="Segoe UI"/>
              </a:rPr>
              <a:t>0.0214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114800"/>
            <a:ext cx="2926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CF3"/>
                </a:solidFill>
                <a:latin typeface="Consolas"/>
              </a:rPr>
              <a:t>CD3dCD34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0" y="4178808"/>
            <a:ext cx="6675120" cy="256032"/>
          </a:xfrm>
          <a:prstGeom prst="roundRect">
            <a:avLst>
              <a:gd name="adj" fmla="val 30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840480" y="4178808"/>
            <a:ext cx="354523" cy="256032"/>
          </a:xfrm>
          <a:prstGeom prst="roundRect">
            <a:avLst>
              <a:gd name="adj" fmla="val 3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25328" y="4114800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4BD"/>
                </a:solidFill>
                <a:latin typeface="Segoe UI"/>
              </a:rPr>
              <a:t>0.0191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617720"/>
            <a:ext cx="2926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CF3"/>
                </a:solidFill>
                <a:latin typeface="Consolas"/>
              </a:rPr>
              <a:t>Recipientage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0" y="4681728"/>
            <a:ext cx="6675120" cy="256032"/>
          </a:xfrm>
          <a:prstGeom prst="roundRect">
            <a:avLst>
              <a:gd name="adj" fmla="val 30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840480" y="4681728"/>
            <a:ext cx="311134" cy="256032"/>
          </a:xfrm>
          <a:prstGeom prst="roundRect">
            <a:avLst>
              <a:gd name="adj" fmla="val 30000"/>
            </a:avLst>
          </a:prstGeom>
          <a:solidFill>
            <a:srgbClr val="93A4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25328" y="4617720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4BD"/>
                </a:solidFill>
                <a:latin typeface="Segoe UI"/>
              </a:rPr>
              <a:t>0.0168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120640"/>
            <a:ext cx="2926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CF3"/>
                </a:solidFill>
                <a:latin typeface="Consolas"/>
              </a:rPr>
              <a:t>PLTrecovery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40480" y="5184648"/>
            <a:ext cx="6675120" cy="256032"/>
          </a:xfrm>
          <a:prstGeom prst="roundRect">
            <a:avLst>
              <a:gd name="adj" fmla="val 30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840480" y="5184648"/>
            <a:ext cx="299824" cy="256032"/>
          </a:xfrm>
          <a:prstGeom prst="roundRect">
            <a:avLst>
              <a:gd name="adj" fmla="val 30000"/>
            </a:avLst>
          </a:prstGeom>
          <a:solidFill>
            <a:srgbClr val="93A4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25328" y="5120640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4BD"/>
                </a:solidFill>
                <a:latin typeface="Segoe UI"/>
              </a:rPr>
              <a:t>0.0162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2DD4BF"/>
                </a:solidFill>
                <a:latin typeface="Segoe UI"/>
              </a:rPr>
              <a:t>Insight:  </a:t>
            </a:r>
            <a:r>
              <a:rPr sz="1300" b="0">
                <a:solidFill>
                  <a:srgbClr val="E7ECF3"/>
                </a:solidFill>
                <a:latin typeface="Segoe UI"/>
              </a:rPr>
              <a:t>the PNN probability projection (Euclid + Cosine + Chebyshev) is the single strongest learned signal - empirically supporting the paper's core feature-enrichment hypothesis.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Segoe UI"/>
              </a:rPr>
              <a:t>06 -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7ECF3"/>
                </a:solidFill>
                <a:latin typeface="Segoe UI"/>
              </a:rPr>
              <a:t>Data quality &amp; exploratory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4BD"/>
                </a:solidFill>
                <a:latin typeface="Segoe UI"/>
              </a:rPr>
              <a:t>Cascade Input-Doubling Pipeline  |  Izonin et al. (2025), Computation 13(3):80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3A4BD"/>
                </a:solidFill>
                <a:latin typeface="Segoe U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57800" cy="2286000"/>
          </a:xfrm>
          <a:prstGeom prst="roundRect">
            <a:avLst>
              <a:gd name="adj" fmla="val 4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issing_values_dirty_vs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614" y="1554480"/>
            <a:ext cx="4075611" cy="1783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9536" y="3364992"/>
            <a:ext cx="5001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3A4BD"/>
                </a:solidFill>
                <a:latin typeface="Segoe UI"/>
              </a:rPr>
              <a:t>Missingness: dirty vs. clean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63040"/>
            <a:ext cx="5257800" cy="2286000"/>
          </a:xfrm>
          <a:prstGeom prst="roundRect">
            <a:avLst>
              <a:gd name="adj" fmla="val 4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da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6413" y="1554480"/>
            <a:ext cx="2269374" cy="1783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00216" y="3364992"/>
            <a:ext cx="5001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3A4BD"/>
                </a:solidFill>
                <a:latin typeface="Segoe UI"/>
              </a:rPr>
              <a:t>Clinical correlation heatmap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5257800" cy="2286000"/>
          </a:xfrm>
          <a:prstGeom prst="roundRect">
            <a:avLst>
              <a:gd name="adj" fmla="val 4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da_feature_distribu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3956" y="4023360"/>
            <a:ext cx="2852928" cy="17830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59536" y="5833872"/>
            <a:ext cx="5001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3A4BD"/>
                </a:solidFill>
                <a:latin typeface="Segoe UI"/>
              </a:rPr>
              <a:t>Feature distributions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31920"/>
            <a:ext cx="5257800" cy="2286000"/>
          </a:xfrm>
          <a:prstGeom prst="roundRect">
            <a:avLst>
              <a:gd name="adj" fmla="val 4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3d_scatter_featur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5232" y="4023360"/>
            <a:ext cx="2451735" cy="1783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00216" y="5833872"/>
            <a:ext cx="5001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3A4BD"/>
                </a:solidFill>
                <a:latin typeface="Segoe UI"/>
              </a:rPr>
              <a:t>3D feature space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Segoe UI"/>
              </a:rPr>
              <a:t>06 -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7ECF3"/>
                </a:solidFill>
                <a:latin typeface="Segoe UI"/>
              </a:rPr>
              <a:t>Model evaluation figures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4BD"/>
                </a:solidFill>
                <a:latin typeface="Segoe UI"/>
              </a:rPr>
              <a:t>Cascade Input-Doubling Pipeline  |  Izonin et al. (2025), Computation 13(3):80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3A4BD"/>
                </a:solidFill>
                <a:latin typeface="Segoe U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502152" cy="4343400"/>
          </a:xfrm>
          <a:prstGeom prst="roundRect">
            <a:avLst>
              <a:gd name="adj" fmla="val 4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nfusion_matrix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0587"/>
            <a:ext cx="3319272" cy="14225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9536" y="5394960"/>
            <a:ext cx="3246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3A4BD"/>
                </a:solidFill>
                <a:latin typeface="Segoe UI"/>
              </a:rPr>
              <a:t>Confusion matrices - side by side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502152" cy="4343400"/>
          </a:xfrm>
          <a:prstGeom prst="roundRect">
            <a:avLst>
              <a:gd name="adj" fmla="val 4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oc_pr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788006"/>
            <a:ext cx="3319272" cy="13277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71416" y="5394960"/>
            <a:ext cx="3246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3A4BD"/>
                </a:solidFill>
                <a:latin typeface="Segoe UI"/>
              </a:rPr>
              <a:t>ROC-AUC &amp; Precision-Recall curves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463040"/>
            <a:ext cx="3502152" cy="4343400"/>
          </a:xfrm>
          <a:prstGeom prst="roundRect">
            <a:avLst>
              <a:gd name="adj" fmla="val 4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inear_regression_bootstrapped_fi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456078"/>
            <a:ext cx="3319272" cy="19915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83296" y="5394960"/>
            <a:ext cx="3246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3A4BD"/>
                </a:solidFill>
                <a:latin typeface="Segoe UI"/>
              </a:rPr>
              <a:t>OLS with 95% bootstrap CI band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Segoe UI"/>
              </a:rPr>
              <a:t>07 - PRODUCTIONIZATION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7ECF3"/>
                </a:solidFill>
                <a:latin typeface="Segoe UI"/>
              </a:rPr>
              <a:t>Interactive clinical ML web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4BD"/>
                </a:solidFill>
                <a:latin typeface="Segoe UI"/>
              </a:rPr>
              <a:t>Cascade Input-Doubling Pipeline  |  Izonin et al. (2025), Computation 13(3):80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3A4BD"/>
                </a:solidFill>
                <a:latin typeface="Segoe U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349240" cy="4480560"/>
          </a:xfrm>
          <a:prstGeom prst="roundRect">
            <a:avLst>
              <a:gd name="adj" fmla="val 6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64008" cy="44805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60934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8BDF8"/>
                </a:solidFill>
                <a:latin typeface="Segoe UI"/>
              </a:rPr>
              <a:t>Stack &amp;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029968"/>
            <a:ext cx="484632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FastAPI backend with REST + auto Swagger/ReDoc docs.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Singleton model service loading persisted joblib artifacts.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Responsive 7-tab dark dashboard (vanilla JS + Chart.js).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9-case automated unittest suite for API + inference + validation.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CSV export center with formula-injection sanitization.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250" b="1">
                <a:solidFill>
                  <a:srgbClr val="FBBF24"/>
                </a:solidFill>
                <a:latin typeface="Segoe UI"/>
              </a:rPr>
              <a:t>  Two distinct models, kept distinct: </a:t>
            </a:r>
            <a:r>
              <a:rPr sz="1250" b="0">
                <a:solidFill>
                  <a:srgbClr val="E7ECF3"/>
                </a:solidFill>
                <a:latin typeface="Segoe UI"/>
              </a:rPr>
              <a:t>Ridge regression targets survival_time (days); the cascade classifies survival_status (0/1).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463040"/>
            <a:ext cx="5074920" cy="4480560"/>
          </a:xfrm>
          <a:prstGeom prst="roundRect">
            <a:avLst>
              <a:gd name="adj" fmla="val 6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463040"/>
            <a:ext cx="64008" cy="44805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160934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DD4BF"/>
                </a:solidFill>
                <a:latin typeface="Segoe UI"/>
              </a:rPr>
              <a:t>Product surface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029968"/>
            <a:ext cx="457200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2DD4BF"/>
                </a:solidFill>
                <a:latin typeface="Segoe UI"/>
              </a:rPr>
              <a:t>Endpoints  -  </a:t>
            </a:r>
            <a:r>
              <a:rPr sz="1300" b="0">
                <a:solidFill>
                  <a:srgbClr val="E7ECF3"/>
                </a:solidFill>
                <a:latin typeface="Segoe UI"/>
              </a:rPr>
              <a:t>POST /predict, /compare, GET /health, /meta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2DD4BF"/>
                </a:solidFill>
                <a:latin typeface="Segoe UI"/>
              </a:rPr>
              <a:t>Features  -  </a:t>
            </a:r>
            <a:r>
              <a:rPr sz="1300" b="0">
                <a:solidFill>
                  <a:srgbClr val="E7ECF3"/>
                </a:solidFill>
                <a:latin typeface="Segoe UI"/>
              </a:rPr>
              <a:t>35 de-leaked baseline clinical attributes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2DD4BF"/>
                </a:solidFill>
                <a:latin typeface="Segoe UI"/>
              </a:rPr>
              <a:t>Sections  -  </a:t>
            </a:r>
            <a:r>
              <a:rPr sz="1300" b="0">
                <a:solidFill>
                  <a:srgbClr val="E7ECF3"/>
                </a:solidFill>
                <a:latin typeface="Segoe UI"/>
              </a:rPr>
              <a:t>Demographics, disease, HLA, cell dose, serology, regimen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2DD4BF"/>
                </a:solidFill>
                <a:latin typeface="Segoe UI"/>
              </a:rPr>
              <a:t>Outputs  -  </a:t>
            </a:r>
            <a:r>
              <a:rPr sz="1300" b="0">
                <a:solidFill>
                  <a:srgbClr val="E7ECF3"/>
                </a:solidFill>
                <a:latin typeface="Segoe UI"/>
              </a:rPr>
              <a:t>Predicted class + calibrated probability; time + CI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2DD4BF"/>
                </a:solidFill>
                <a:latin typeface="Segoe UI"/>
              </a:rPr>
              <a:t>Docs  -  </a:t>
            </a:r>
            <a:r>
              <a:rPr sz="1300" b="0">
                <a:solidFill>
                  <a:srgbClr val="E7ECF3"/>
                </a:solidFill>
                <a:latin typeface="Segoe UI"/>
              </a:rPr>
              <a:t>127.0.0.1:8000/docs  (Swagger UI)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Segoe UI"/>
              </a:rPr>
              <a:t>08 -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7ECF3"/>
                </a:solidFill>
                <a:latin typeface="Segoe UI"/>
              </a:rPr>
              <a:t>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4BD"/>
                </a:solidFill>
                <a:latin typeface="Segoe UI"/>
              </a:rPr>
              <a:t>Cascade Input-Doubling Pipeline  |  Izonin et al. (2025), Computation 13(3):80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3A4BD"/>
                </a:solidFill>
                <a:latin typeface="Segoe U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81328"/>
            <a:ext cx="10725912" cy="822960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64008" cy="8229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27048"/>
            <a:ext cx="548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4D399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554480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E7ECF3"/>
                </a:solidFill>
                <a:latin typeface="Segoe UI"/>
              </a:rPr>
              <a:t>Prediction error slashed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4BD"/>
                </a:solidFill>
                <a:latin typeface="Segoe UI"/>
              </a:rPr>
              <a:t>Cascade cut MAE by 75.5% (0.2597 -&gt; 0.0637) and RMSE by 32.1% vs the OLS baseline.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14016"/>
            <a:ext cx="10725912" cy="822960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414016"/>
            <a:ext cx="64008" cy="8229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59736"/>
            <a:ext cx="548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8BDF8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487168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E7ECF3"/>
                </a:solidFill>
                <a:latin typeface="Segoe UI"/>
              </a:rPr>
              <a:t>Zero false positives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4BD"/>
                </a:solidFill>
                <a:latin typeface="Segoe UI"/>
              </a:rPr>
              <a:t>Specificity and precision both 1.00 - no healthy patient was flagged, critical for avoiding unnecessary interventions.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46704"/>
            <a:ext cx="10725912" cy="822960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346704"/>
            <a:ext cx="64008" cy="8229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392424"/>
            <a:ext cx="548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DD4BF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419856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E7ECF3"/>
                </a:solidFill>
                <a:latin typeface="Segoe UI"/>
              </a:rPr>
              <a:t>PNN expansion is the signal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4BD"/>
                </a:solidFill>
                <a:latin typeface="Segoe UI"/>
              </a:rPr>
              <a:t>PNN_Euclid is the #1 feature at 35.6% importance, validating the paper's feature-enrichment thesis.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79392"/>
            <a:ext cx="10725912" cy="822960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279392"/>
            <a:ext cx="64008" cy="8229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325112"/>
            <a:ext cx="548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BBF24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3525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E7ECF3"/>
                </a:solidFill>
                <a:latin typeface="Segoe UI"/>
              </a:rPr>
              <a:t>Input doubling beats small 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4BD"/>
                </a:solidFill>
                <a:latin typeface="Segoe UI"/>
              </a:rPr>
              <a:t>Pairwise differences turn 157 rows into thousands of grounded comparisons, stabilizing learning under class imbalance.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212080"/>
            <a:ext cx="10725912" cy="822960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212080"/>
            <a:ext cx="64008" cy="822960"/>
          </a:xfrm>
          <a:prstGeom prst="rect">
            <a:avLst/>
          </a:prstGeom>
          <a:solidFill>
            <a:srgbClr val="93A4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257800"/>
            <a:ext cx="548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3A4BD"/>
                </a:solidFill>
                <a:latin typeface="Segoe U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285232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E7ECF3"/>
                </a:solidFill>
                <a:latin typeface="Segoe UI"/>
              </a:rPr>
              <a:t>Reproducible by design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4BD"/>
                </a:solidFill>
                <a:latin typeface="Segoe UI"/>
              </a:rPr>
              <a:t>Seeded, modular, leak-free pipeline plus notebook and web app - every number regenerates from source.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Segoe UI"/>
              </a:rPr>
              <a:t>08 -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7ECF3"/>
                </a:solidFill>
                <a:latin typeface="Segoe UI"/>
              </a:rPr>
              <a:t>Limitations &amp; responsible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4BD"/>
                </a:solidFill>
                <a:latin typeface="Segoe UI"/>
              </a:rPr>
              <a:t>Cascade Input-Doubling Pipeline  |  Izonin et al. (2025), Computation 13(3):80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3A4BD"/>
                </a:solidFill>
                <a:latin typeface="Segoe UI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349240" cy="4480560"/>
          </a:xfrm>
          <a:prstGeom prst="roundRect">
            <a:avLst>
              <a:gd name="adj" fmla="val 6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64008" cy="44805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60934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BBF24"/>
                </a:solidFill>
                <a:latin typeface="Segoe UI"/>
              </a:rPr>
              <a:t>Statistical caveats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029968"/>
            <a:ext cx="484632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FBBF24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Test cohort is tiny (N=30); single-split metrics carry wide uncertainty.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FBBF24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Reported benchmarks vary across runs/seeds - the pipeline export and the README/web-app summaries differ.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FBBF24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The cascade's precision-first bias trades recall for specificity - model choice must follow the clinical objective.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FBBF24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survival_time regression is heavily right-censored; R^2 is near zero, so day-level prediction is not reliable.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463040"/>
            <a:ext cx="5074920" cy="4480560"/>
          </a:xfrm>
          <a:prstGeom prst="roundRect">
            <a:avLst>
              <a:gd name="adj" fmla="val 6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463040"/>
            <a:ext cx="64008" cy="44805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160934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7171"/>
                </a:solidFill>
                <a:latin typeface="Segoe UI"/>
              </a:rPr>
              <a:t>Ethical disclaimer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029968"/>
            <a:ext cx="457200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F87171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Research and educational demonstration ONLY.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F87171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NOT evaluated in clinical trials, NOT FDA-approved, NOT CE-marked.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F87171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Must NEVER guide diagnosis, prognosis or treatment.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500">
                <a:solidFill>
                  <a:srgbClr val="F87171"/>
                </a:solidFill>
                <a:latin typeface="Segoe UI"/>
              </a:rPr>
              <a:t>•  </a:t>
            </a:r>
            <a:r>
              <a:rPr sz="1500" b="0">
                <a:solidFill>
                  <a:srgbClr val="E7ECF3"/>
                </a:solidFill>
                <a:latin typeface="Segoe UI"/>
              </a:rPr>
              <a:t>No PHI: only de-identified public benchmark data is processed.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  Bottom line: </a:t>
            </a:r>
            <a:r>
              <a:rPr sz="1300" b="0">
                <a:solidFill>
                  <a:srgbClr val="E7ECF3"/>
                </a:solidFill>
                <a:latin typeface="Segoe UI"/>
              </a:rPr>
              <a:t>a rigorous methods showcase - not a medical device.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E7ECF3"/>
                </a:solidFill>
                <a:latin typeface="Segoe UI"/>
              </a:rPr>
              <a:t>Thank you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800" b="0" i="0">
                <a:solidFill>
                  <a:srgbClr val="2DD4BF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926080"/>
            <a:ext cx="10332720" cy="2468880"/>
          </a:xfrm>
          <a:prstGeom prst="roundRect">
            <a:avLst>
              <a:gd name="adj" fmla="val 6000"/>
            </a:avLst>
          </a:prstGeom>
          <a:solidFill>
            <a:srgbClr val="1B2740"/>
          </a:solidFill>
          <a:ln w="9525">
            <a:solidFill>
              <a:srgbClr val="2B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926080"/>
            <a:ext cx="64008" cy="24688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072384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8BDF8"/>
                </a:solidFill>
                <a:latin typeface="Segoe UI"/>
              </a:rPr>
              <a:t>Attribution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3493008"/>
            <a:ext cx="9829800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2DD4BF"/>
                </a:solidFill>
                <a:latin typeface="Segoe UI"/>
              </a:rPr>
              <a:t>Method:  </a:t>
            </a:r>
            <a:r>
              <a:rPr sz="1300" b="0">
                <a:solidFill>
                  <a:srgbClr val="E7ECF3"/>
                </a:solidFill>
                <a:latin typeface="Segoe UI"/>
              </a:rPr>
              <a:t>Izonin, I., Tkachenko, R., Hovdysh, N., Berezsky, O., Yemets, K. &amp; Tsmots, I. (2025). Cascade-Based Input-Doubling Classifier for Predicting Survival in Allogeneic Bone Marrow Transplants: Small Data Case. </a:t>
            </a:r>
            <a:r>
              <a:rPr sz="1300" b="1">
                <a:solidFill>
                  <a:srgbClr val="93A4BD"/>
                </a:solidFill>
                <a:latin typeface="Segoe UI"/>
              </a:rPr>
              <a:t>Computation 13(3):80.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2DD4BF"/>
                </a:solidFill>
                <a:latin typeface="Segoe UI"/>
              </a:rPr>
              <a:t>Data:  </a:t>
            </a:r>
            <a:r>
              <a:rPr sz="1300" b="0">
                <a:solidFill>
                  <a:srgbClr val="E7ECF3"/>
                </a:solidFill>
                <a:latin typeface="Segoe UI"/>
              </a:rPr>
              <a:t>Pediatric Bone Marrow Transplantation benchmark dataset.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2DD4BF"/>
                </a:solidFill>
                <a:latin typeface="Segoe UI"/>
              </a:rPr>
              <a:t>Stack:  </a:t>
            </a:r>
            <a:r>
              <a:rPr sz="1300" b="0">
                <a:solidFill>
                  <a:srgbClr val="E7ECF3"/>
                </a:solidFill>
                <a:latin typeface="Segoe UI"/>
              </a:rPr>
              <a:t>Python, scikit-learn, SciPy, statsmodels, pandas, matplotlib/seaborn, FastAPI, Chart.js.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2DD4BF"/>
                </a:solidFill>
                <a:latin typeface="Segoe UI"/>
              </a:rPr>
              <a:t>License:  </a:t>
            </a:r>
            <a:r>
              <a:rPr sz="1300" b="0">
                <a:solidFill>
                  <a:srgbClr val="E7ECF3"/>
                </a:solidFill>
                <a:latin typeface="Segoe UI"/>
              </a:rPr>
              <a:t>MIT License.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4BD"/>
                </a:solidFill>
                <a:latin typeface="Consolas"/>
              </a:rPr>
              <a:t>Repository: bone_marrow_cascade_pipeline  -  run  python pipeline.py  to reproduce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